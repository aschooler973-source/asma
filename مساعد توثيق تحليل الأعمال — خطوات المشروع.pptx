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Noto Kufi Arabic" pitchFamily="3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يشرح هذا العرض كيف بُني مشروع «مساعد توثيق تحليل الأعمال» على Claude، وكيف طُبّق على حالة فعلية هي نظام المراجعة الداخلية، لإخراج وثيقة متطلبات العمل والملفات المساندة.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مدخلات متفرقة وغير منظمة، مثل محاضر الاجتماعات وملاحظات أصحاب المصلحة. الحل: مساعد يعمل بدور محلل أعمال أول وفق منهجية وقواعد ثابتة، ويُخرج الوثيقة على القالب المعتمد لتُسلَّم مباشرة لفرق التطوير والاختبار.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يجمع المشروع على Claude أربعة مكونات في مكان واحد: التعليمات، والقالب المعتمد، والقوالب المساندة، ومدخلات كل خدمة. لذلك تبدأ كل محادثة داخل المشروع بالسياق نفسه، فلا يُعاد شرح الدور والقواعد في كل مرة.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حددت التعليمات ثمانية مصادر يعتمد عليها المساعد عند توفرها. وعند وجود إصدارات متعددة من المعلومة نفسها، يُعتمد أحدث تعديل صريح ومعتمد، ولا يُستخدم أي مصدر خارج هذه القائمة.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المراحل الثلاث متتابعة: لا يبدأ التحليل قبل فهم المدخلات وتحديد مصدر كل معلومة، ولا تُكتب الوثيقة قبل اكتشاف التعارض والتكرار والنقص. وفي المرحلة الثالثة يُربط كل متطلب بقواعد العمل ومعايير القبول المرتبطة 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القواعد العشر مجمّعة في أربعة محاور. أهمها عمليًا القاعدة الثامنة: الفصل بين المعلومات المؤكدة والنقاط التي تحتاج قرارًا؛ فبدل أن يفترض المساعد إجراءً أو صلاحية غير مذكورة، يُبقيها في الوثيقة نقطة «بانتظار قرار».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طُبّق المشروع على نظام المراجعة الداخلية. قبل الإعداد روجعت المدخلات الأربعة: وثيقة الصلاحيات وحدها تحمل محتوى، وبقية الملفات قوالب فارغة أو عامة. وفق التعليمات، حُددت هذه النتيجة أولًا، ثم أُنشئت الوثيقة مباشرة لأن المدخلات كانت كافية.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ثماني خطوات من مراجعة المدخلات حتى الملفات المساندة. الخطوة الخامسة هي ما يميز المنهج: كل ما لم يحسمه المصدر يُكتب داخل الوثيقة بعبارة «بانتظار قرار» بدل افتراضه، ثم يُجمع في قائمة واحدة للجهة المالكة.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المخطط مبني من «تدرج الاعتماد» في وثيقة الصلاحيات: فريق المراجعة يعدّ التقرير ويرفعه، وكل مستوى إما يعتمد ويرفع إلى المستوى التالي، أو يعيد التقرير إلى المستوى السابق مع كتابة السبب. بعد الاعتماد النهائي يُصدر التقرير للجهة المعنية وتُقفل نسخته النهائية، ثم تبدأ وحدة المتابعة متابعة التوصيات.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خاصية من الخصائص الثلاثين تتبع البنية نفسها المأخوذة من القالب: قصة المستخدم، ثم الوصف والمرجع، ثم المستخدم ومعايير القبول وقواعد العمل. النقاط غير المحسومة تظهر داخل الخاصية في إطار مميز، وقواعد العمل لها معرّف ثابت يتكرر بالصياغة نفسها في كل خاصية تستخدمها.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الأرقام مأخوذة من الوثيقة نفسها: 27 صفحة، و30 خاصية مستخدم في 7 مجموعات، و116 معيار قبول، و23 قاعدة عمل. الصلاحيات الـ61 هي 53 صلاحية للأدوار السبعة و8 صلاحيات عامة، وكلها مربوطة بخصائصها. أما النقاط الـ15 فرُفعت للقرار بدل افتراضها.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أُعدّت الملفات الأربعة على قوالب المشروع نفسها، وبُنيت على وثيقة الصلاحيات وحدها؛ فما لم يذكره المصدر، مثل رقم التقرير أو عنوانه، لم يُضف، وما لم يحسمه مُيّز بعبارة «بانتظار قرار».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جرى التحقق على مستويين: فحوص آلية تتتبع كل صلاحية وكل قاعدة وكل إحالة، ثم فتح كل ملف وفحصه بصريًا. وقد كشفت مصفوفة الصلاحيات نقطة لم تكن مدرجة في الوثيقة: هل يشمل تعديل «محتوى التقرير» لرئيس القسم ومدير الإدارة الملاحظاتِ والتوصيات؟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الوثيقة الحالية مسودة 0.1. الخطوة التالية مراجعة النقاط الخمس عشرة مع الجهة المالكة، ثم تحديث الوثيقة والملفات المساندة بالقرارات، وإعادة مراجعة الاتساق قبل اعتماد النسخة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95300"/>
          </a:xfrm>
          <a:prstGeom prst="rect">
            <a:avLst/>
          </a:prstGeom>
          <a:noFill/>
          <a:ln/>
        </p:spPr>
        <p:txBody>
          <a:bodyPr wrap="square" lIns="0" tIns="0" rIns="0" bIns="0" rtlCol="0" anchor="t"/>
          <a:lstStyle>
            <a:lvl1pPr algn="l" indent="0" marL="0">
              <a:lnSpc>
                <a:spcPct val="115000"/>
              </a:lnSpc>
              <a:buNone/>
              <a:defRPr lang="en-US" sz="3000" dirty="0">
                <a:solidFill>
                  <a:srgbClr val="12343B"/>
                </a:solidFill>
                <a:latin typeface="Noto Kufi Arabic" pitchFamily="34" charset="0"/>
                <a:ea typeface="Noto Kufi Arabic" pitchFamily="34" charset="-122"/>
                <a:cs typeface="Noto Kufi Arabic"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02420"/>
            <a:ext cx="10566400" cy="4142780"/>
          </a:xfrm>
          <a:prstGeom prst="rect">
            <a:avLst/>
          </a:prstGeom>
          <a:noFill/>
          <a:ln/>
        </p:spPr>
        <p:txBody>
          <a:bodyPr wrap="square" lIns="0" tIns="0" rIns="0" bIns="0" rtlCol="0" anchor="t"/>
          <a:lstStyle>
            <a:lvl1pPr algn="l" indent="0" marL="0">
              <a:lnSpc>
                <a:spcPct val="140000"/>
              </a:lnSpc>
              <a:buNone/>
              <a:defRPr lang="en-US" sz="1600" dirty="0">
                <a:solidFill>
                  <a:srgbClr val="12343B"/>
                </a:solidFill>
                <a:latin typeface="IBM Plex Sans Arabic" pitchFamily="34" charset="0"/>
                <a:ea typeface="IBM Plex Sans Arabic" pitchFamily="34" charset="-122"/>
                <a:cs typeface="IBM Plex Sans Arabic"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95300"/>
          </a:xfrm>
          <a:prstGeom prst="rect">
            <a:avLst/>
          </a:prstGeom>
          <a:noFill/>
          <a:ln/>
        </p:spPr>
        <p:txBody>
          <a:bodyPr wrap="square" lIns="0" tIns="0" rIns="0" bIns="0" rtlCol="0" anchor="t"/>
          <a:lstStyle>
            <a:lvl1pPr algn="l" indent="0" marL="0">
              <a:lnSpc>
                <a:spcPct val="115000"/>
              </a:lnSpc>
              <a:buNone/>
              <a:defRPr lang="en-US" sz="3000" dirty="0">
                <a:solidFill>
                  <a:srgbClr val="12343B"/>
                </a:solidFill>
                <a:latin typeface="Noto Kufi Arabic" pitchFamily="34" charset="0"/>
                <a:ea typeface="Noto Kufi Arabic" pitchFamily="34" charset="-122"/>
                <a:cs typeface="Noto Kufi Arabic"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02420"/>
            <a:ext cx="10566400" cy="4142780"/>
          </a:xfrm>
          <a:prstGeom prst="rect">
            <a:avLst/>
          </a:prstGeom>
          <a:noFill/>
          <a:ln/>
        </p:spPr>
        <p:txBody>
          <a:bodyPr wrap="square" lIns="0" tIns="0" rIns="0" bIns="0" rtlCol="0" anchor="t"/>
          <a:lstStyle>
            <a:lvl1pPr algn="l" indent="0" marL="0">
              <a:lnSpc>
                <a:spcPct val="140000"/>
              </a:lnSpc>
              <a:buNone/>
              <a:defRPr lang="en-US" sz="1600" dirty="0">
                <a:solidFill>
                  <a:srgbClr val="12343B"/>
                </a:solidFill>
                <a:latin typeface="IBM Plex Sans Arabic" pitchFamily="34" charset="0"/>
                <a:ea typeface="IBM Plex Sans Arabic" pitchFamily="34" charset="-122"/>
                <a:cs typeface="IBM Plex Sans Arabic"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92E"/>
        </a:solidFill>
      </p:bgPr>
    </p:bg>
    <p:spTree>
      <p:nvGrpSpPr>
        <p:cNvPr id="1" name=""/>
        <p:cNvGrpSpPr/>
        <p:nvPr/>
      </p:nvGrpSpPr>
      <p:grpSpPr>
        <a:xfrm>
          <a:off x="0" y="0"/>
          <a:ext cx="0" cy="0"/>
          <a:chOff x="0" y="0"/>
          <a:chExt cx="0" cy="0"/>
        </a:xfrm>
      </p:grpSpPr>
      <p:sp>
        <p:nvSpPr>
          <p:cNvPr id="2" name="Text 0"/>
          <p:cNvSpPr/>
          <p:nvPr/>
        </p:nvSpPr>
        <p:spPr>
          <a:xfrm>
            <a:off x="495808" y="2371064"/>
            <a:ext cx="10883392" cy="274307"/>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0A35A"/>
                </a:solidFill>
                <a:latin typeface="IBM Plex Sans Arabic" pitchFamily="34" charset="0"/>
                <a:ea typeface="IBM Plex Sans Arabic" pitchFamily="34" charset="-122"/>
                <a:cs typeface="IBM Plex Sans Arabic" pitchFamily="34" charset="-120"/>
              </a:rPr>
              <a:t>‫Business Analysis Documentation Assistant‬</a:t>
            </a:r>
            <a:endParaRPr lang="en-US" sz="1400" dirty="0"/>
          </a:p>
        </p:txBody>
      </p:sp>
      <p:sp>
        <p:nvSpPr>
          <p:cNvPr id="3" name="Text 1"/>
          <p:cNvSpPr/>
          <p:nvPr>
            <p:ph type="title"/>
          </p:nvPr>
        </p:nvSpPr>
        <p:spPr>
          <a:xfrm>
            <a:off x="495808" y="2848570"/>
            <a:ext cx="10883392" cy="787400"/>
          </a:xfrm>
          <a:prstGeom prst="rect">
            <a:avLst/>
          </a:prstGeom>
          <a:noFill/>
          <a:ln/>
        </p:spPr>
        <p:txBody>
          <a:bodyPr wrap="square" lIns="0" tIns="0" rIns="0" bIns="0" rtlCol="0" anchor="t">
            <a:normAutofit/>
          </a:bodyPr>
          <a:lstStyle/>
          <a:p>
            <a:pPr algn="r" indent="0" marL="0">
              <a:lnSpc>
                <a:spcPts val="6000"/>
              </a:lnSpc>
              <a:buNone/>
            </a:pPr>
            <a:r>
              <a:rPr lang="en-US" sz="4800" b="1" i="0" dirty="0">
                <a:solidFill>
                  <a:srgbClr val="F4F8F7"/>
                </a:solidFill>
                <a:latin typeface="Noto Kufi Arabic" pitchFamily="34" charset="0"/>
                <a:ea typeface="Noto Kufi Arabic" pitchFamily="34" charset="-122"/>
                <a:cs typeface="Noto Kufi Arabic" pitchFamily="34" charset="-120"/>
              </a:rPr>
              <a:t>مساعد توثيق تحليل الأعمال</a:t>
            </a:r>
            <a:endParaRPr lang="en-US" sz="4800" dirty="0"/>
          </a:p>
        </p:txBody>
      </p:sp>
      <p:sp>
        <p:nvSpPr>
          <p:cNvPr id="4" name="Text 2"/>
          <p:cNvSpPr/>
          <p:nvPr/>
        </p:nvSpPr>
        <p:spPr>
          <a:xfrm>
            <a:off x="495808" y="3839170"/>
            <a:ext cx="10883392" cy="406400"/>
          </a:xfrm>
          <a:prstGeom prst="rect">
            <a:avLst/>
          </a:prstGeom>
          <a:noFill/>
          <a:ln/>
        </p:spPr>
        <p:txBody>
          <a:bodyPr wrap="square" lIns="0" tIns="0" rIns="0" bIns="0" rtlCol="0" anchor="t">
            <a:normAutofit/>
          </a:bodyPr>
          <a:lstStyle/>
          <a:p>
            <a:pPr algn="r" indent="0" marL="0">
              <a:lnSpc>
                <a:spcPts val="3000"/>
              </a:lnSpc>
              <a:buNone/>
            </a:pPr>
            <a:r>
              <a:rPr lang="en-US" sz="2000" dirty="0">
                <a:solidFill>
                  <a:srgbClr val="C9DEDB"/>
                </a:solidFill>
                <a:latin typeface="IBM Plex Sans Arabic" pitchFamily="34" charset="0"/>
                <a:ea typeface="IBM Plex Sans Arabic" pitchFamily="34" charset="-122"/>
                <a:cs typeface="IBM Plex Sans Arabic" pitchFamily="34" charset="-120"/>
              </a:rPr>
              <a:t>خطوات بناء المشروع وتطبيقه على نظام المراجعة الداخلية</a:t>
            </a:r>
            <a:endParaRPr lang="en-US" sz="2000" dirty="0"/>
          </a:p>
        </p:txBody>
      </p:sp>
      <p:sp>
        <p:nvSpPr>
          <p:cNvPr id="5" name="Shape 3"/>
          <p:cNvSpPr/>
          <p:nvPr/>
        </p:nvSpPr>
        <p:spPr>
          <a:xfrm>
            <a:off x="10109200" y="4448770"/>
            <a:ext cx="1270000" cy="38100"/>
          </a:xfrm>
          <a:prstGeom prst="roundRect">
            <a:avLst>
              <a:gd name="adj" fmla="val 50000"/>
            </a:avLst>
          </a:prstGeom>
          <a:solidFill>
            <a:srgbClr val="F0A35A"/>
          </a:solidFill>
          <a:ln/>
        </p:spPr>
      </p:sp>
      <p:sp>
        <p:nvSpPr>
          <p:cNvPr id="6" name="Text 4"/>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8C5C1"/>
                </a:solidFill>
                <a:latin typeface="IBM Plex Sans Arabic" pitchFamily="34" charset="0"/>
                <a:ea typeface="IBM Plex Sans Arabic" pitchFamily="34" charset="-122"/>
                <a:cs typeface="IBM Plex Sans Arabic" pitchFamily="34" charset="-120"/>
              </a:rPr>
              <a:t>قسم تحليل الأعمال — الإدارة العامة للتحول الرقمي · أكتوبر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مقدمة</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الهدف من المشروع</a:t>
            </a:r>
            <a:endParaRPr lang="en-US" sz="3000" dirty="0"/>
          </a:p>
        </p:txBody>
      </p:sp>
      <p:sp>
        <p:nvSpPr>
          <p:cNvPr id="4" name="Text 2"/>
          <p:cNvSpPr/>
          <p:nvPr/>
        </p:nvSpPr>
        <p:spPr>
          <a:xfrm>
            <a:off x="495808" y="1851620"/>
            <a:ext cx="10883392" cy="787400"/>
          </a:xfrm>
          <a:prstGeom prst="rect">
            <a:avLst/>
          </a:prstGeom>
          <a:noFill/>
          <a:ln/>
        </p:spPr>
        <p:txBody>
          <a:bodyPr wrap="square" lIns="0" tIns="0" rIns="0" bIns="0" rtlCol="0" anchor="t">
            <a:normAutofit/>
          </a:bodyPr>
          <a:lstStyle/>
          <a:p>
            <a:pPr algn="r" indent="0" marL="0">
              <a:lnSpc>
                <a:spcPts val="3000"/>
              </a:lnSpc>
              <a:buNone/>
            </a:pPr>
            <a:r>
              <a:rPr lang="en-US" sz="2000" dirty="0">
                <a:solidFill>
                  <a:srgbClr val="17282C"/>
                </a:solidFill>
                <a:latin typeface="IBM Plex Sans Arabic" pitchFamily="34" charset="0"/>
                <a:ea typeface="IBM Plex Sans Arabic" pitchFamily="34" charset="-122"/>
                <a:cs typeface="IBM Plex Sans Arabic" pitchFamily="34" charset="-120"/>
              </a:rPr>
              <a:t>تحويل المدخلات غير المنظمة إلى وثيقة تحليل أعمال احترافية ودقيقة، قابلة للاستخدام من فرق التطوير والاختبار وأصحاب المصلحة</a:t>
            </a:r>
            <a:endParaRPr lang="en-US" sz="2000" dirty="0"/>
          </a:p>
        </p:txBody>
      </p:sp>
      <p:sp>
        <p:nvSpPr>
          <p:cNvPr id="5" name="Shape 3"/>
          <p:cNvSpPr/>
          <p:nvPr/>
        </p:nvSpPr>
        <p:spPr>
          <a:xfrm>
            <a:off x="815975" y="2870795"/>
            <a:ext cx="3041650" cy="1627717"/>
          </a:xfrm>
          <a:prstGeom prst="roundRect">
            <a:avLst>
              <a:gd name="adj" fmla="val 6047"/>
            </a:avLst>
          </a:prstGeom>
          <a:solidFill>
            <a:srgbClr val="FDFCF9"/>
          </a:solidFill>
          <a:ln w="6350">
            <a:solidFill>
              <a:srgbClr val="E2E4DE"/>
            </a:solidFill>
            <a:prstDash val="solid"/>
          </a:ln>
        </p:spPr>
      </p:sp>
      <p:sp>
        <p:nvSpPr>
          <p:cNvPr id="6" name="Text 4"/>
          <p:cNvSpPr/>
          <p:nvPr/>
        </p:nvSpPr>
        <p:spPr>
          <a:xfrm>
            <a:off x="888021" y="3108061"/>
            <a:ext cx="945674"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المخرجات</a:t>
            </a:r>
            <a:endParaRPr lang="en-US" sz="1600" dirty="0"/>
          </a:p>
        </p:txBody>
      </p:sp>
      <p:pic>
        <p:nvPicPr>
          <p:cNvPr id="7" name="Image 0" descr="Verified">    </p:cNvPr>
          <p:cNvPicPr>
            <a:picLocks noChangeAspect="1"/>
          </p:cNvPicPr>
          <p:nvPr/>
        </p:nvPicPr>
        <p:blipFill>
          <a:blip r:embed="rId1"/>
          <a:srcRect l="0" r="0" t="0" b="0"/>
          <a:stretch/>
        </p:blipFill>
        <p:spPr>
          <a:xfrm>
            <a:off x="1935295" y="3100454"/>
            <a:ext cx="279400" cy="279400"/>
          </a:xfrm>
          <a:prstGeom prst="rect">
            <a:avLst/>
          </a:prstGeom>
        </p:spPr>
      </p:pic>
      <p:sp>
        <p:nvSpPr>
          <p:cNvPr id="8" name="Text 5"/>
          <p:cNvSpPr/>
          <p:nvPr/>
        </p:nvSpPr>
        <p:spPr>
          <a:xfrm>
            <a:off x="968163" y="3468754"/>
            <a:ext cx="2659803" cy="8255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‫وثيقة متطلبات العمل (BRD) بصيغة Word على القالب المعتمد، مع ملفات مساندة‬</a:t>
            </a:r>
            <a:endParaRPr lang="en-US" sz="1400" dirty="0"/>
          </a:p>
        </p:txBody>
      </p:sp>
      <p:pic>
        <p:nvPicPr>
          <p:cNvPr id="9" name="Image 1" descr="arrow-left">    </p:cNvPr>
          <p:cNvPicPr>
            <a:picLocks noChangeAspect="1"/>
          </p:cNvPicPr>
          <p:nvPr/>
        </p:nvPicPr>
        <p:blipFill>
          <a:blip r:embed="rId2"/>
          <a:srcRect l="0" r="0" t="0" b="0"/>
          <a:stretch/>
        </p:blipFill>
        <p:spPr>
          <a:xfrm>
            <a:off x="4013200" y="3583054"/>
            <a:ext cx="406400" cy="203200"/>
          </a:xfrm>
          <a:prstGeom prst="rect">
            <a:avLst/>
          </a:prstGeom>
        </p:spPr>
      </p:pic>
      <p:sp>
        <p:nvSpPr>
          <p:cNvPr id="10" name="Shape 6"/>
          <p:cNvSpPr/>
          <p:nvPr/>
        </p:nvSpPr>
        <p:spPr>
          <a:xfrm>
            <a:off x="4575175" y="2870795"/>
            <a:ext cx="3041650" cy="1627717"/>
          </a:xfrm>
          <a:prstGeom prst="roundRect">
            <a:avLst>
              <a:gd name="adj" fmla="val 6047"/>
            </a:avLst>
          </a:prstGeom>
          <a:solidFill>
            <a:srgbClr val="FDFCF9"/>
          </a:solidFill>
          <a:ln w="6350">
            <a:solidFill>
              <a:srgbClr val="E2E4DE"/>
            </a:solidFill>
            <a:prstDash val="solid"/>
          </a:ln>
        </p:spPr>
      </p:sp>
      <p:sp>
        <p:nvSpPr>
          <p:cNvPr id="11" name="Text 7"/>
          <p:cNvSpPr/>
          <p:nvPr/>
        </p:nvSpPr>
        <p:spPr>
          <a:xfrm>
            <a:off x="4668480" y="3108061"/>
            <a:ext cx="818118"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المساعد</a:t>
            </a:r>
            <a:endParaRPr lang="en-US" sz="1600" dirty="0"/>
          </a:p>
        </p:txBody>
      </p:sp>
      <p:pic>
        <p:nvPicPr>
          <p:cNvPr id="12" name="Image 2" descr="Settings">    </p:cNvPr>
          <p:cNvPicPr>
            <a:picLocks noChangeAspect="1"/>
          </p:cNvPicPr>
          <p:nvPr/>
        </p:nvPicPr>
        <p:blipFill>
          <a:blip r:embed="rId3"/>
          <a:srcRect l="0" r="0" t="0" b="0"/>
          <a:stretch/>
        </p:blipFill>
        <p:spPr>
          <a:xfrm>
            <a:off x="5588198" y="3100454"/>
            <a:ext cx="279400" cy="279400"/>
          </a:xfrm>
          <a:prstGeom prst="rect">
            <a:avLst/>
          </a:prstGeom>
        </p:spPr>
      </p:pic>
      <p:sp>
        <p:nvSpPr>
          <p:cNvPr id="13" name="Text 8"/>
          <p:cNvSpPr/>
          <p:nvPr/>
        </p:nvSpPr>
        <p:spPr>
          <a:xfrm>
            <a:off x="4727363" y="3468754"/>
            <a:ext cx="2659803" cy="8255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مساعد ذكي بدور «محلل أعمال أول»، يعمل بمنهجية من ثلاث مراحل وعشر قواعد إلزامية</a:t>
            </a:r>
            <a:endParaRPr lang="en-US" sz="1400" dirty="0"/>
          </a:p>
        </p:txBody>
      </p:sp>
      <p:pic>
        <p:nvPicPr>
          <p:cNvPr id="14" name="Image 3" descr="arrow-left">    </p:cNvPr>
          <p:cNvPicPr>
            <a:picLocks noChangeAspect="1"/>
          </p:cNvPicPr>
          <p:nvPr/>
        </p:nvPicPr>
        <p:blipFill>
          <a:blip r:embed="rId4"/>
          <a:srcRect l="0" r="0" t="0" b="0"/>
          <a:stretch/>
        </p:blipFill>
        <p:spPr>
          <a:xfrm>
            <a:off x="7772400" y="3583054"/>
            <a:ext cx="406400" cy="203200"/>
          </a:xfrm>
          <a:prstGeom prst="rect">
            <a:avLst/>
          </a:prstGeom>
        </p:spPr>
      </p:pic>
      <p:sp>
        <p:nvSpPr>
          <p:cNvPr id="15" name="Shape 9"/>
          <p:cNvSpPr/>
          <p:nvPr/>
        </p:nvSpPr>
        <p:spPr>
          <a:xfrm>
            <a:off x="8334375" y="2870795"/>
            <a:ext cx="3041650" cy="1627717"/>
          </a:xfrm>
          <a:prstGeom prst="roundRect">
            <a:avLst>
              <a:gd name="adj" fmla="val 6047"/>
            </a:avLst>
          </a:prstGeom>
          <a:solidFill>
            <a:srgbClr val="FDFCF9"/>
          </a:solidFill>
          <a:ln w="6350">
            <a:solidFill>
              <a:srgbClr val="E2E4DE"/>
            </a:solidFill>
            <a:prstDash val="solid"/>
          </a:ln>
        </p:spPr>
      </p:sp>
      <p:sp>
        <p:nvSpPr>
          <p:cNvPr id="16" name="Text 10"/>
          <p:cNvSpPr/>
          <p:nvPr/>
        </p:nvSpPr>
        <p:spPr>
          <a:xfrm>
            <a:off x="8408419" y="3108061"/>
            <a:ext cx="933688"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المدخلات</a:t>
            </a:r>
            <a:endParaRPr lang="en-US" sz="1600" dirty="0"/>
          </a:p>
        </p:txBody>
      </p:sp>
      <p:pic>
        <p:nvPicPr>
          <p:cNvPr id="17" name="Image 4" descr="Book">    </p:cNvPr>
          <p:cNvPicPr>
            <a:picLocks noChangeAspect="1"/>
          </p:cNvPicPr>
          <p:nvPr/>
        </p:nvPicPr>
        <p:blipFill>
          <a:blip r:embed="rId5"/>
          <a:srcRect l="0" r="0" t="0" b="0"/>
          <a:stretch/>
        </p:blipFill>
        <p:spPr>
          <a:xfrm>
            <a:off x="9443707" y="3100454"/>
            <a:ext cx="279400" cy="279400"/>
          </a:xfrm>
          <a:prstGeom prst="rect">
            <a:avLst/>
          </a:prstGeom>
        </p:spPr>
      </p:pic>
      <p:sp>
        <p:nvSpPr>
          <p:cNvPr id="18" name="Text 11"/>
          <p:cNvSpPr/>
          <p:nvPr/>
        </p:nvSpPr>
        <p:spPr>
          <a:xfrm>
            <a:off x="8486564" y="3468754"/>
            <a:ext cx="2659803" cy="8255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محاضر الاجتماعات، ومتطلبات أصحاب المصلحة، ووصف الخدمات، وقواعد العمل والصلاحيات</a:t>
            </a:r>
            <a:endParaRPr lang="en-US" sz="1400" dirty="0"/>
          </a:p>
        </p:txBody>
      </p:sp>
      <p:sp>
        <p:nvSpPr>
          <p:cNvPr id="19" name="Text 12"/>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إعداد المشروع</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مكونات المشروع</a:t>
            </a:r>
            <a:endParaRPr lang="en-US" sz="3000" dirty="0"/>
          </a:p>
        </p:txBody>
      </p:sp>
      <p:sp>
        <p:nvSpPr>
          <p:cNvPr id="4" name="Shape 2"/>
          <p:cNvSpPr/>
          <p:nvPr/>
        </p:nvSpPr>
        <p:spPr>
          <a:xfrm>
            <a:off x="815975" y="1854795"/>
            <a:ext cx="5200650" cy="1310217"/>
          </a:xfrm>
          <a:prstGeom prst="roundRect">
            <a:avLst>
              <a:gd name="adj" fmla="val 7512"/>
            </a:avLst>
          </a:prstGeom>
          <a:solidFill>
            <a:srgbClr val="FDFCF9"/>
          </a:solidFill>
          <a:ln w="6350">
            <a:solidFill>
              <a:srgbClr val="E2E4DE"/>
            </a:solidFill>
            <a:prstDash val="solid"/>
          </a:ln>
        </p:spPr>
      </p:sp>
      <p:sp>
        <p:nvSpPr>
          <p:cNvPr id="5" name="Text 3"/>
          <p:cNvSpPr/>
          <p:nvPr/>
        </p:nvSpPr>
        <p:spPr>
          <a:xfrm>
            <a:off x="819150" y="2066661"/>
            <a:ext cx="1386615"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القالب المعتمد</a:t>
            </a:r>
            <a:endParaRPr lang="en-US" sz="1600" dirty="0"/>
          </a:p>
        </p:txBody>
      </p:sp>
      <p:pic>
        <p:nvPicPr>
          <p:cNvPr id="6" name="Image 0" descr="Verified">    </p:cNvPr>
          <p:cNvPicPr>
            <a:picLocks noChangeAspect="1"/>
          </p:cNvPicPr>
          <p:nvPr/>
        </p:nvPicPr>
        <p:blipFill>
          <a:blip r:embed="rId1"/>
          <a:srcRect l="0" r="0" t="0" b="0"/>
          <a:stretch/>
        </p:blipFill>
        <p:spPr>
          <a:xfrm>
            <a:off x="2307365" y="2059054"/>
            <a:ext cx="279400" cy="279400"/>
          </a:xfrm>
          <a:prstGeom prst="rect">
            <a:avLst/>
          </a:prstGeom>
        </p:spPr>
      </p:pic>
      <p:sp>
        <p:nvSpPr>
          <p:cNvPr id="7" name="Text 4"/>
          <p:cNvSpPr/>
          <p:nvPr/>
        </p:nvSpPr>
        <p:spPr>
          <a:xfrm>
            <a:off x="876469" y="2427354"/>
            <a:ext cx="4935897" cy="5588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‫نموذج وثيقة تحليل الأعمال (Word): المرجع الثابت لترتيب العناوين والجداول‬</a:t>
            </a:r>
            <a:endParaRPr lang="en-US" sz="1400" dirty="0"/>
          </a:p>
        </p:txBody>
      </p:sp>
      <p:sp>
        <p:nvSpPr>
          <p:cNvPr id="8" name="Shape 5"/>
          <p:cNvSpPr/>
          <p:nvPr/>
        </p:nvSpPr>
        <p:spPr>
          <a:xfrm>
            <a:off x="6175375" y="1854795"/>
            <a:ext cx="5200650" cy="1310217"/>
          </a:xfrm>
          <a:prstGeom prst="roundRect">
            <a:avLst>
              <a:gd name="adj" fmla="val 7512"/>
            </a:avLst>
          </a:prstGeom>
          <a:solidFill>
            <a:srgbClr val="FDFCF9"/>
          </a:solidFill>
          <a:ln w="6350">
            <a:solidFill>
              <a:srgbClr val="E2E4DE"/>
            </a:solidFill>
            <a:prstDash val="solid"/>
          </a:ln>
        </p:spPr>
      </p:sp>
      <p:sp>
        <p:nvSpPr>
          <p:cNvPr id="9" name="Text 6"/>
          <p:cNvSpPr/>
          <p:nvPr/>
        </p:nvSpPr>
        <p:spPr>
          <a:xfrm>
            <a:off x="6178550" y="2066661"/>
            <a:ext cx="1567656"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تعليمات المشروع</a:t>
            </a:r>
            <a:endParaRPr lang="en-US" sz="1600" dirty="0"/>
          </a:p>
        </p:txBody>
      </p:sp>
      <p:pic>
        <p:nvPicPr>
          <p:cNvPr id="10" name="Image 1" descr="Settings">    </p:cNvPr>
          <p:cNvPicPr>
            <a:picLocks noChangeAspect="1"/>
          </p:cNvPicPr>
          <p:nvPr/>
        </p:nvPicPr>
        <p:blipFill>
          <a:blip r:embed="rId2"/>
          <a:srcRect l="0" r="0" t="0" b="0"/>
          <a:stretch/>
        </p:blipFill>
        <p:spPr>
          <a:xfrm>
            <a:off x="7847806" y="2059054"/>
            <a:ext cx="279400" cy="279400"/>
          </a:xfrm>
          <a:prstGeom prst="rect">
            <a:avLst/>
          </a:prstGeom>
        </p:spPr>
      </p:pic>
      <p:sp>
        <p:nvSpPr>
          <p:cNvPr id="11" name="Text 7"/>
          <p:cNvSpPr/>
          <p:nvPr/>
        </p:nvSpPr>
        <p:spPr>
          <a:xfrm>
            <a:off x="6235869" y="2427354"/>
            <a:ext cx="4935897" cy="5588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الدور والهدف، ومصادر المعلومات، ومنهجية العمل، والقواعد الإلزامية، والمخرجات المطلوبة</a:t>
            </a:r>
            <a:endParaRPr lang="en-US" sz="1400" dirty="0"/>
          </a:p>
        </p:txBody>
      </p:sp>
      <p:sp>
        <p:nvSpPr>
          <p:cNvPr id="12" name="Shape 8"/>
          <p:cNvSpPr/>
          <p:nvPr/>
        </p:nvSpPr>
        <p:spPr>
          <a:xfrm>
            <a:off x="815975" y="3323763"/>
            <a:ext cx="5200650" cy="1310217"/>
          </a:xfrm>
          <a:prstGeom prst="roundRect">
            <a:avLst>
              <a:gd name="adj" fmla="val 7512"/>
            </a:avLst>
          </a:prstGeom>
          <a:solidFill>
            <a:srgbClr val="FDFCF9"/>
          </a:solidFill>
          <a:ln w="6350">
            <a:solidFill>
              <a:srgbClr val="E2E4DE"/>
            </a:solidFill>
            <a:prstDash val="solid"/>
          </a:ln>
        </p:spPr>
      </p:sp>
      <p:sp>
        <p:nvSpPr>
          <p:cNvPr id="13" name="Text 9"/>
          <p:cNvSpPr/>
          <p:nvPr/>
        </p:nvSpPr>
        <p:spPr>
          <a:xfrm>
            <a:off x="819150" y="3535628"/>
            <a:ext cx="1634067"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مدخلات كل خدمة</a:t>
            </a:r>
            <a:endParaRPr lang="en-US" sz="1600" dirty="0"/>
          </a:p>
        </p:txBody>
      </p:sp>
      <p:pic>
        <p:nvPicPr>
          <p:cNvPr id="14" name="Image 2" descr="Database">    </p:cNvPr>
          <p:cNvPicPr>
            <a:picLocks noChangeAspect="1"/>
          </p:cNvPicPr>
          <p:nvPr/>
        </p:nvPicPr>
        <p:blipFill>
          <a:blip r:embed="rId3"/>
          <a:srcRect l="0" r="0" t="0" b="0"/>
          <a:stretch/>
        </p:blipFill>
        <p:spPr>
          <a:xfrm>
            <a:off x="2554817" y="3528020"/>
            <a:ext cx="279400" cy="279400"/>
          </a:xfrm>
          <a:prstGeom prst="rect">
            <a:avLst/>
          </a:prstGeom>
        </p:spPr>
      </p:pic>
      <p:sp>
        <p:nvSpPr>
          <p:cNvPr id="15" name="Text 10"/>
          <p:cNvSpPr/>
          <p:nvPr/>
        </p:nvSpPr>
        <p:spPr>
          <a:xfrm>
            <a:off x="876469" y="3896320"/>
            <a:ext cx="4935897" cy="5588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‫ملفات الجهة المالكة، مثل وثيقة صلاحيات المستخدمين في نظام المراجعة الداخلية (PDF)‬</a:t>
            </a:r>
            <a:endParaRPr lang="en-US" sz="1400" dirty="0"/>
          </a:p>
        </p:txBody>
      </p:sp>
      <p:sp>
        <p:nvSpPr>
          <p:cNvPr id="16" name="Shape 11"/>
          <p:cNvSpPr/>
          <p:nvPr/>
        </p:nvSpPr>
        <p:spPr>
          <a:xfrm>
            <a:off x="6175375" y="3323763"/>
            <a:ext cx="5200650" cy="1310217"/>
          </a:xfrm>
          <a:prstGeom prst="roundRect">
            <a:avLst>
              <a:gd name="adj" fmla="val 7512"/>
            </a:avLst>
          </a:prstGeom>
          <a:solidFill>
            <a:srgbClr val="FDFCF9"/>
          </a:solidFill>
          <a:ln w="6350">
            <a:solidFill>
              <a:srgbClr val="E2E4DE"/>
            </a:solidFill>
            <a:prstDash val="solid"/>
          </a:ln>
        </p:spPr>
      </p:sp>
      <p:sp>
        <p:nvSpPr>
          <p:cNvPr id="17" name="Text 12"/>
          <p:cNvSpPr/>
          <p:nvPr/>
        </p:nvSpPr>
        <p:spPr>
          <a:xfrm>
            <a:off x="6178550" y="3535628"/>
            <a:ext cx="1567458"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القوالب المساندة</a:t>
            </a:r>
            <a:endParaRPr lang="en-US" sz="1600" dirty="0"/>
          </a:p>
        </p:txBody>
      </p:sp>
      <p:pic>
        <p:nvPicPr>
          <p:cNvPr id="18" name="Image 3" descr="Book">    </p:cNvPr>
          <p:cNvPicPr>
            <a:picLocks noChangeAspect="1"/>
          </p:cNvPicPr>
          <p:nvPr/>
        </p:nvPicPr>
        <p:blipFill>
          <a:blip r:embed="rId4"/>
          <a:srcRect l="0" r="0" t="0" b="0"/>
          <a:stretch/>
        </p:blipFill>
        <p:spPr>
          <a:xfrm>
            <a:off x="7847608" y="3528020"/>
            <a:ext cx="279400" cy="279400"/>
          </a:xfrm>
          <a:prstGeom prst="rect">
            <a:avLst/>
          </a:prstGeom>
        </p:spPr>
      </p:pic>
      <p:sp>
        <p:nvSpPr>
          <p:cNvPr id="19" name="Text 13"/>
          <p:cNvSpPr/>
          <p:nvPr/>
        </p:nvSpPr>
        <p:spPr>
          <a:xfrm>
            <a:off x="6235869" y="3896320"/>
            <a:ext cx="4935897" cy="5588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‫الحقول للخدمة (Excel)، ومخطط سير العمل (PNG)، وتجربة الخدمة الإلكترونية (HTML)‬</a:t>
            </a:r>
            <a:endParaRPr lang="en-US" sz="1400" dirty="0"/>
          </a:p>
        </p:txBody>
      </p:sp>
      <p:sp>
        <p:nvSpPr>
          <p:cNvPr id="20" name="Text 14"/>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إعداد المشروع</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مصادر المعلومات المعتمدة</a:t>
            </a:r>
            <a:endParaRPr lang="en-US" sz="3000" dirty="0"/>
          </a:p>
        </p:txBody>
      </p:sp>
      <p:sp>
        <p:nvSpPr>
          <p:cNvPr id="4" name="Shape 2"/>
          <p:cNvSpPr/>
          <p:nvPr/>
        </p:nvSpPr>
        <p:spPr>
          <a:xfrm>
            <a:off x="815975" y="1854795"/>
            <a:ext cx="2520950" cy="1211130"/>
          </a:xfrm>
          <a:prstGeom prst="roundRect">
            <a:avLst>
              <a:gd name="adj" fmla="val 8127"/>
            </a:avLst>
          </a:prstGeom>
          <a:solidFill>
            <a:srgbClr val="FDFCF9"/>
          </a:solidFill>
          <a:ln w="6350">
            <a:solidFill>
              <a:srgbClr val="E2E4DE"/>
            </a:solidFill>
            <a:prstDash val="solid"/>
          </a:ln>
        </p:spPr>
      </p:sp>
      <p:pic>
        <p:nvPicPr>
          <p:cNvPr id="5" name="Image 0" descr="Key">    </p:cNvPr>
          <p:cNvPicPr>
            <a:picLocks noChangeAspect="1"/>
          </p:cNvPicPr>
          <p:nvPr/>
        </p:nvPicPr>
        <p:blipFill>
          <a:blip r:embed="rId1"/>
          <a:srcRect l="0" r="0" t="0" b="0"/>
          <a:stretch/>
        </p:blipFill>
        <p:spPr>
          <a:xfrm>
            <a:off x="2904067" y="2033654"/>
            <a:ext cx="254000" cy="254000"/>
          </a:xfrm>
          <a:prstGeom prst="rect">
            <a:avLst/>
          </a:prstGeom>
        </p:spPr>
      </p:pic>
      <p:sp>
        <p:nvSpPr>
          <p:cNvPr id="6" name="Text 3"/>
          <p:cNvSpPr/>
          <p:nvPr/>
        </p:nvSpPr>
        <p:spPr>
          <a:xfrm>
            <a:off x="1119558" y="2389254"/>
            <a:ext cx="203850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قواعد العمل والصلاحيات</a:t>
            </a:r>
            <a:endParaRPr lang="en-US" sz="1400" dirty="0"/>
          </a:p>
        </p:txBody>
      </p:sp>
      <p:sp>
        <p:nvSpPr>
          <p:cNvPr id="7" name="Shape 4"/>
          <p:cNvSpPr/>
          <p:nvPr/>
        </p:nvSpPr>
        <p:spPr>
          <a:xfrm>
            <a:off x="3495675" y="1854795"/>
            <a:ext cx="2520950" cy="1211130"/>
          </a:xfrm>
          <a:prstGeom prst="roundRect">
            <a:avLst>
              <a:gd name="adj" fmla="val 8127"/>
            </a:avLst>
          </a:prstGeom>
          <a:solidFill>
            <a:srgbClr val="FDFCF9"/>
          </a:solidFill>
          <a:ln w="6350">
            <a:solidFill>
              <a:srgbClr val="E2E4DE"/>
            </a:solidFill>
            <a:prstDash val="solid"/>
          </a:ln>
        </p:spPr>
      </p:sp>
      <p:pic>
        <p:nvPicPr>
          <p:cNvPr id="8" name="Image 1" descr="Book">    </p:cNvPr>
          <p:cNvPicPr>
            <a:picLocks noChangeAspect="1"/>
          </p:cNvPicPr>
          <p:nvPr/>
        </p:nvPicPr>
        <p:blipFill>
          <a:blip r:embed="rId2"/>
          <a:srcRect l="0" r="0" t="0" b="0"/>
          <a:stretch/>
        </p:blipFill>
        <p:spPr>
          <a:xfrm>
            <a:off x="5583767" y="2033654"/>
            <a:ext cx="254000" cy="254000"/>
          </a:xfrm>
          <a:prstGeom prst="rect">
            <a:avLst/>
          </a:prstGeom>
        </p:spPr>
      </p:pic>
      <p:sp>
        <p:nvSpPr>
          <p:cNvPr id="9" name="Text 5"/>
          <p:cNvSpPr/>
          <p:nvPr/>
        </p:nvSpPr>
        <p:spPr>
          <a:xfrm>
            <a:off x="3609636" y="2389254"/>
            <a:ext cx="2228130" cy="523214"/>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وصف الخدمات والإجراءات الحالية</a:t>
            </a:r>
            <a:endParaRPr lang="en-US" sz="1400" dirty="0"/>
          </a:p>
        </p:txBody>
      </p:sp>
      <p:sp>
        <p:nvSpPr>
          <p:cNvPr id="10" name="Shape 6"/>
          <p:cNvSpPr/>
          <p:nvPr/>
        </p:nvSpPr>
        <p:spPr>
          <a:xfrm>
            <a:off x="6175375" y="1854795"/>
            <a:ext cx="2520950" cy="1211130"/>
          </a:xfrm>
          <a:prstGeom prst="roundRect">
            <a:avLst>
              <a:gd name="adj" fmla="val 8127"/>
            </a:avLst>
          </a:prstGeom>
          <a:solidFill>
            <a:srgbClr val="FDFCF9"/>
          </a:solidFill>
          <a:ln w="6350">
            <a:solidFill>
              <a:srgbClr val="E2E4DE"/>
            </a:solidFill>
            <a:prstDash val="solid"/>
          </a:ln>
        </p:spPr>
      </p:sp>
      <p:pic>
        <p:nvPicPr>
          <p:cNvPr id="11" name="Image 2" descr="Users">    </p:cNvPr>
          <p:cNvPicPr>
            <a:picLocks noChangeAspect="1"/>
          </p:cNvPicPr>
          <p:nvPr/>
        </p:nvPicPr>
        <p:blipFill>
          <a:blip r:embed="rId3"/>
          <a:srcRect l="0" r="0" t="0" b="0"/>
          <a:stretch/>
        </p:blipFill>
        <p:spPr>
          <a:xfrm>
            <a:off x="8263467" y="2033654"/>
            <a:ext cx="254000" cy="254000"/>
          </a:xfrm>
          <a:prstGeom prst="rect">
            <a:avLst/>
          </a:prstGeom>
        </p:spPr>
      </p:pic>
      <p:sp>
        <p:nvSpPr>
          <p:cNvPr id="12" name="Text 7"/>
          <p:cNvSpPr/>
          <p:nvPr/>
        </p:nvSpPr>
        <p:spPr>
          <a:xfrm>
            <a:off x="6356959" y="2389254"/>
            <a:ext cx="2160508"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متطلبات أصحاب المصلحة</a:t>
            </a:r>
            <a:endParaRPr lang="en-US" sz="1400" dirty="0"/>
          </a:p>
        </p:txBody>
      </p:sp>
      <p:sp>
        <p:nvSpPr>
          <p:cNvPr id="13" name="Shape 8"/>
          <p:cNvSpPr/>
          <p:nvPr/>
        </p:nvSpPr>
        <p:spPr>
          <a:xfrm>
            <a:off x="8855075" y="1854795"/>
            <a:ext cx="2520950" cy="1211130"/>
          </a:xfrm>
          <a:prstGeom prst="roundRect">
            <a:avLst>
              <a:gd name="adj" fmla="val 8127"/>
            </a:avLst>
          </a:prstGeom>
          <a:solidFill>
            <a:srgbClr val="FDFCF9"/>
          </a:solidFill>
          <a:ln w="6350">
            <a:solidFill>
              <a:srgbClr val="E2E4DE"/>
            </a:solidFill>
            <a:prstDash val="solid"/>
          </a:ln>
        </p:spPr>
      </p:sp>
      <p:pic>
        <p:nvPicPr>
          <p:cNvPr id="14" name="Image 3" descr="Chat">    </p:cNvPr>
          <p:cNvPicPr>
            <a:picLocks noChangeAspect="1"/>
          </p:cNvPicPr>
          <p:nvPr/>
        </p:nvPicPr>
        <p:blipFill>
          <a:blip r:embed="rId4"/>
          <a:srcRect l="0" r="0" t="0" b="0"/>
          <a:stretch/>
        </p:blipFill>
        <p:spPr>
          <a:xfrm>
            <a:off x="10943167" y="2033654"/>
            <a:ext cx="254000" cy="254000"/>
          </a:xfrm>
          <a:prstGeom prst="rect">
            <a:avLst/>
          </a:prstGeom>
        </p:spPr>
      </p:pic>
      <p:sp>
        <p:nvSpPr>
          <p:cNvPr id="15" name="Text 9"/>
          <p:cNvSpPr/>
          <p:nvPr/>
        </p:nvSpPr>
        <p:spPr>
          <a:xfrm>
            <a:off x="8858250" y="2389254"/>
            <a:ext cx="2338917"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محاضر الاجتماعات وورش العمل</a:t>
            </a:r>
            <a:endParaRPr lang="en-US" sz="1400" dirty="0"/>
          </a:p>
        </p:txBody>
      </p:sp>
      <p:sp>
        <p:nvSpPr>
          <p:cNvPr id="16" name="Shape 10"/>
          <p:cNvSpPr/>
          <p:nvPr/>
        </p:nvSpPr>
        <p:spPr>
          <a:xfrm>
            <a:off x="815975" y="3224676"/>
            <a:ext cx="2520950" cy="1211130"/>
          </a:xfrm>
          <a:prstGeom prst="roundRect">
            <a:avLst>
              <a:gd name="adj" fmla="val 8127"/>
            </a:avLst>
          </a:prstGeom>
          <a:solidFill>
            <a:srgbClr val="FDFCF9"/>
          </a:solidFill>
          <a:ln w="6350">
            <a:solidFill>
              <a:srgbClr val="E2E4DE"/>
            </a:solidFill>
            <a:prstDash val="solid"/>
          </a:ln>
        </p:spPr>
      </p:sp>
      <p:pic>
        <p:nvPicPr>
          <p:cNvPr id="17" name="Image 4" descr="CheckCircle">    </p:cNvPr>
          <p:cNvPicPr>
            <a:picLocks noChangeAspect="1"/>
          </p:cNvPicPr>
          <p:nvPr/>
        </p:nvPicPr>
        <p:blipFill>
          <a:blip r:embed="rId5"/>
          <a:srcRect l="0" r="0" t="0" b="0"/>
          <a:stretch/>
        </p:blipFill>
        <p:spPr>
          <a:xfrm>
            <a:off x="2904067" y="3403535"/>
            <a:ext cx="254000" cy="254000"/>
          </a:xfrm>
          <a:prstGeom prst="rect">
            <a:avLst/>
          </a:prstGeom>
        </p:spPr>
      </p:pic>
      <p:sp>
        <p:nvSpPr>
          <p:cNvPr id="18" name="Text 11"/>
          <p:cNvSpPr/>
          <p:nvPr/>
        </p:nvSpPr>
        <p:spPr>
          <a:xfrm>
            <a:off x="929936" y="3759135"/>
            <a:ext cx="2228130" cy="523214"/>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التعديلات والتوضيحات المعتمدة خلال المحادثة</a:t>
            </a:r>
            <a:endParaRPr lang="en-US" sz="1400" dirty="0"/>
          </a:p>
        </p:txBody>
      </p:sp>
      <p:sp>
        <p:nvSpPr>
          <p:cNvPr id="19" name="Shape 12"/>
          <p:cNvSpPr/>
          <p:nvPr/>
        </p:nvSpPr>
        <p:spPr>
          <a:xfrm>
            <a:off x="3495675" y="3224676"/>
            <a:ext cx="2520950" cy="1211130"/>
          </a:xfrm>
          <a:prstGeom prst="roundRect">
            <a:avLst>
              <a:gd name="adj" fmla="val 8127"/>
            </a:avLst>
          </a:prstGeom>
          <a:solidFill>
            <a:srgbClr val="FDFCF9"/>
          </a:solidFill>
          <a:ln w="6350">
            <a:solidFill>
              <a:srgbClr val="E2E4DE"/>
            </a:solidFill>
            <a:prstDash val="solid"/>
          </a:ln>
        </p:spPr>
      </p:sp>
      <p:pic>
        <p:nvPicPr>
          <p:cNvPr id="20" name="Image 5" descr="Verified">    </p:cNvPr>
          <p:cNvPicPr>
            <a:picLocks noChangeAspect="1"/>
          </p:cNvPicPr>
          <p:nvPr/>
        </p:nvPicPr>
        <p:blipFill>
          <a:blip r:embed="rId6"/>
          <a:srcRect l="0" r="0" t="0" b="0"/>
          <a:stretch/>
        </p:blipFill>
        <p:spPr>
          <a:xfrm>
            <a:off x="5583767" y="3403535"/>
            <a:ext cx="254000" cy="254000"/>
          </a:xfrm>
          <a:prstGeom prst="rect">
            <a:avLst/>
          </a:prstGeom>
        </p:spPr>
      </p:pic>
      <p:sp>
        <p:nvSpPr>
          <p:cNvPr id="21" name="Text 13"/>
          <p:cNvSpPr/>
          <p:nvPr/>
        </p:nvSpPr>
        <p:spPr>
          <a:xfrm>
            <a:off x="3609636" y="3759135"/>
            <a:ext cx="2228130" cy="523214"/>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القالب المعتمد لوثيقة تحليل الأعمال</a:t>
            </a:r>
            <a:endParaRPr lang="en-US" sz="1400" dirty="0"/>
          </a:p>
        </p:txBody>
      </p:sp>
      <p:sp>
        <p:nvSpPr>
          <p:cNvPr id="22" name="Shape 14"/>
          <p:cNvSpPr/>
          <p:nvPr/>
        </p:nvSpPr>
        <p:spPr>
          <a:xfrm>
            <a:off x="6175375" y="3224676"/>
            <a:ext cx="2520950" cy="1211130"/>
          </a:xfrm>
          <a:prstGeom prst="roundRect">
            <a:avLst>
              <a:gd name="adj" fmla="val 8127"/>
            </a:avLst>
          </a:prstGeom>
          <a:solidFill>
            <a:srgbClr val="FDFCF9"/>
          </a:solidFill>
          <a:ln w="6350">
            <a:solidFill>
              <a:srgbClr val="E2E4DE"/>
            </a:solidFill>
            <a:prstDash val="solid"/>
          </a:ln>
        </p:spPr>
      </p:sp>
      <p:pic>
        <p:nvPicPr>
          <p:cNvPr id="23" name="Image 6" descr="Search">    </p:cNvPr>
          <p:cNvPicPr>
            <a:picLocks noChangeAspect="1"/>
          </p:cNvPicPr>
          <p:nvPr/>
        </p:nvPicPr>
        <p:blipFill>
          <a:blip r:embed="rId7"/>
          <a:srcRect l="0" r="0" t="0" b="0"/>
          <a:stretch/>
        </p:blipFill>
        <p:spPr>
          <a:xfrm>
            <a:off x="8263467" y="3403535"/>
            <a:ext cx="254000" cy="254000"/>
          </a:xfrm>
          <a:prstGeom prst="rect">
            <a:avLst/>
          </a:prstGeom>
        </p:spPr>
      </p:pic>
      <p:sp>
        <p:nvSpPr>
          <p:cNvPr id="24" name="Text 15"/>
          <p:cNvSpPr/>
          <p:nvPr/>
        </p:nvSpPr>
        <p:spPr>
          <a:xfrm>
            <a:off x="6771534" y="3759135"/>
            <a:ext cx="1745932"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وثائق التحليل السابقة</a:t>
            </a:r>
            <a:endParaRPr lang="en-US" sz="1400" dirty="0"/>
          </a:p>
        </p:txBody>
      </p:sp>
      <p:sp>
        <p:nvSpPr>
          <p:cNvPr id="25" name="Shape 16"/>
          <p:cNvSpPr/>
          <p:nvPr/>
        </p:nvSpPr>
        <p:spPr>
          <a:xfrm>
            <a:off x="8855075" y="3224676"/>
            <a:ext cx="2520950" cy="1211130"/>
          </a:xfrm>
          <a:prstGeom prst="roundRect">
            <a:avLst>
              <a:gd name="adj" fmla="val 8127"/>
            </a:avLst>
          </a:prstGeom>
          <a:solidFill>
            <a:srgbClr val="FDFCF9"/>
          </a:solidFill>
          <a:ln w="6350">
            <a:solidFill>
              <a:srgbClr val="E2E4DE"/>
            </a:solidFill>
            <a:prstDash val="solid"/>
          </a:ln>
        </p:spPr>
      </p:sp>
      <p:pic>
        <p:nvPicPr>
          <p:cNvPr id="26" name="Image 7" descr="Database">    </p:cNvPr>
          <p:cNvPicPr>
            <a:picLocks noChangeAspect="1"/>
          </p:cNvPicPr>
          <p:nvPr/>
        </p:nvPicPr>
        <p:blipFill>
          <a:blip r:embed="rId8"/>
          <a:srcRect l="0" r="0" t="0" b="0"/>
          <a:stretch/>
        </p:blipFill>
        <p:spPr>
          <a:xfrm>
            <a:off x="10943167" y="3403535"/>
            <a:ext cx="254000" cy="254000"/>
          </a:xfrm>
          <a:prstGeom prst="rect">
            <a:avLst/>
          </a:prstGeom>
        </p:spPr>
      </p:pic>
      <p:sp>
        <p:nvSpPr>
          <p:cNvPr id="27" name="Text 17"/>
          <p:cNvSpPr/>
          <p:nvPr/>
        </p:nvSpPr>
        <p:spPr>
          <a:xfrm>
            <a:off x="8887910" y="3759135"/>
            <a:ext cx="2309257"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الملفات والصور والمخططات</a:t>
            </a:r>
            <a:endParaRPr lang="en-US" sz="1400" dirty="0"/>
          </a:p>
        </p:txBody>
      </p:sp>
      <p:sp>
        <p:nvSpPr>
          <p:cNvPr id="28" name="Text 18"/>
          <p:cNvSpPr/>
          <p:nvPr/>
        </p:nvSpPr>
        <p:spPr>
          <a:xfrm>
            <a:off x="495808" y="4692982"/>
            <a:ext cx="10883392" cy="2921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تُعتمد هذه المصادر عند توفرها، وعند تعدد الإصدارات يُعتمد أحدث تعديل صريح ومعتمد</a:t>
            </a:r>
            <a:endParaRPr lang="en-US" sz="1400" dirty="0"/>
          </a:p>
        </p:txBody>
      </p:sp>
      <p:sp>
        <p:nvSpPr>
          <p:cNvPr id="29" name="Text 19"/>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إعداد المشروع</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منهجية العمل في ثلاث مراحل</a:t>
            </a:r>
            <a:endParaRPr lang="en-US" sz="3000" dirty="0"/>
          </a:p>
        </p:txBody>
      </p:sp>
      <p:sp>
        <p:nvSpPr>
          <p:cNvPr id="4" name="Shape 2"/>
          <p:cNvSpPr/>
          <p:nvPr/>
        </p:nvSpPr>
        <p:spPr>
          <a:xfrm>
            <a:off x="815975" y="1854795"/>
            <a:ext cx="3414183" cy="2638491"/>
          </a:xfrm>
          <a:prstGeom prst="roundRect">
            <a:avLst>
              <a:gd name="adj" fmla="val 3730"/>
            </a:avLst>
          </a:prstGeom>
          <a:solidFill>
            <a:srgbClr val="FDFCF9"/>
          </a:solidFill>
          <a:ln w="6350">
            <a:solidFill>
              <a:srgbClr val="E2E4DE"/>
            </a:solidFill>
            <a:prstDash val="solid"/>
          </a:ln>
        </p:spPr>
      </p:sp>
      <p:sp>
        <p:nvSpPr>
          <p:cNvPr id="5" name="Text 3"/>
          <p:cNvSpPr/>
          <p:nvPr/>
        </p:nvSpPr>
        <p:spPr>
          <a:xfrm>
            <a:off x="3254177" y="2059056"/>
            <a:ext cx="771723" cy="264120"/>
          </a:xfrm>
          <a:prstGeom prst="roundRect">
            <a:avLst>
              <a:gd name="adj" fmla="val 28851"/>
            </a:avLst>
          </a:prstGeom>
          <a:solidFill>
            <a:srgbClr val="E1EEEC"/>
          </a:solidFill>
          <a:ln/>
        </p:spPr>
        <p:txBody>
          <a:bodyPr wrap="none" lIns="0" tIns="0" rIns="0" bIns="0" rtlCol="0" anchor="ctr">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المرحلة 3</a:t>
            </a:r>
            <a:endParaRPr lang="en-US" sz="1200" dirty="0"/>
          </a:p>
        </p:txBody>
      </p:sp>
      <p:sp>
        <p:nvSpPr>
          <p:cNvPr id="6" name="Text 4"/>
          <p:cNvSpPr/>
          <p:nvPr/>
        </p:nvSpPr>
        <p:spPr>
          <a:xfrm>
            <a:off x="930063" y="2424776"/>
            <a:ext cx="3095837"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إعداد الوثيقة</a:t>
            </a:r>
            <a:endParaRPr lang="en-US" sz="1600" dirty="0"/>
          </a:p>
        </p:txBody>
      </p:sp>
      <p:sp>
        <p:nvSpPr>
          <p:cNvPr id="7" name="Text 5"/>
          <p:cNvSpPr/>
          <p:nvPr/>
        </p:nvSpPr>
        <p:spPr>
          <a:xfrm>
            <a:off x="934635" y="2790496"/>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اعتماد القالب المرفق مرجعًا أساسيًا</a:t>
            </a:r>
            <a:endParaRPr lang="en-US" sz="1400" dirty="0"/>
          </a:p>
        </p:txBody>
      </p:sp>
      <p:sp>
        <p:nvSpPr>
          <p:cNvPr id="8" name="Shape 6"/>
          <p:cNvSpPr/>
          <p:nvPr/>
        </p:nvSpPr>
        <p:spPr>
          <a:xfrm>
            <a:off x="3962400" y="2885746"/>
            <a:ext cx="63500" cy="63500"/>
          </a:xfrm>
          <a:prstGeom prst="roundRect">
            <a:avLst>
              <a:gd name="adj" fmla="val 20000"/>
            </a:avLst>
          </a:prstGeom>
          <a:solidFill>
            <a:srgbClr val="0F5C63"/>
          </a:solidFill>
          <a:ln/>
        </p:spPr>
      </p:sp>
      <p:sp>
        <p:nvSpPr>
          <p:cNvPr id="9" name="Text 7"/>
          <p:cNvSpPr/>
          <p:nvPr/>
        </p:nvSpPr>
        <p:spPr>
          <a:xfrm>
            <a:off x="934635" y="3102902"/>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الحفاظ على ترتيب عناوينه وجداوله</a:t>
            </a:r>
            <a:endParaRPr lang="en-US" sz="1400" dirty="0"/>
          </a:p>
        </p:txBody>
      </p:sp>
      <p:sp>
        <p:nvSpPr>
          <p:cNvPr id="10" name="Shape 8"/>
          <p:cNvSpPr/>
          <p:nvPr/>
        </p:nvSpPr>
        <p:spPr>
          <a:xfrm>
            <a:off x="3962400" y="3198152"/>
            <a:ext cx="63500" cy="63500"/>
          </a:xfrm>
          <a:prstGeom prst="roundRect">
            <a:avLst>
              <a:gd name="adj" fmla="val 20000"/>
            </a:avLst>
          </a:prstGeom>
          <a:solidFill>
            <a:srgbClr val="0F5C63"/>
          </a:solidFill>
          <a:ln/>
        </p:spPr>
      </p:sp>
      <p:sp>
        <p:nvSpPr>
          <p:cNvPr id="11" name="Text 9"/>
          <p:cNvSpPr/>
          <p:nvPr/>
        </p:nvSpPr>
        <p:spPr>
          <a:xfrm>
            <a:off x="934635" y="3415308"/>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صياغة مهنية واضحة وقابلة للاختبار</a:t>
            </a:r>
            <a:endParaRPr lang="en-US" sz="1400" dirty="0"/>
          </a:p>
        </p:txBody>
      </p:sp>
      <p:sp>
        <p:nvSpPr>
          <p:cNvPr id="12" name="Shape 10"/>
          <p:cNvSpPr/>
          <p:nvPr/>
        </p:nvSpPr>
        <p:spPr>
          <a:xfrm>
            <a:off x="3962400" y="3510558"/>
            <a:ext cx="63500" cy="63500"/>
          </a:xfrm>
          <a:prstGeom prst="roundRect">
            <a:avLst>
              <a:gd name="adj" fmla="val 20000"/>
            </a:avLst>
          </a:prstGeom>
          <a:solidFill>
            <a:srgbClr val="0F5C63"/>
          </a:solidFill>
          <a:ln/>
        </p:spPr>
      </p:sp>
      <p:sp>
        <p:nvSpPr>
          <p:cNvPr id="13" name="Text 11"/>
          <p:cNvSpPr/>
          <p:nvPr/>
        </p:nvSpPr>
        <p:spPr>
          <a:xfrm>
            <a:off x="819150" y="3727717"/>
            <a:ext cx="3054350"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ربط كل متطلب بقواعد العمل ومعايير القبول</a:t>
            </a:r>
            <a:endParaRPr lang="en-US" sz="1400" dirty="0"/>
          </a:p>
        </p:txBody>
      </p:sp>
      <p:sp>
        <p:nvSpPr>
          <p:cNvPr id="14" name="Shape 12"/>
          <p:cNvSpPr/>
          <p:nvPr/>
        </p:nvSpPr>
        <p:spPr>
          <a:xfrm>
            <a:off x="3962400" y="3822967"/>
            <a:ext cx="63500" cy="63500"/>
          </a:xfrm>
          <a:prstGeom prst="roundRect">
            <a:avLst>
              <a:gd name="adj" fmla="val 20000"/>
            </a:avLst>
          </a:prstGeom>
          <a:solidFill>
            <a:srgbClr val="0F5C63"/>
          </a:solidFill>
          <a:ln/>
        </p:spPr>
      </p:sp>
      <p:sp>
        <p:nvSpPr>
          <p:cNvPr id="15" name="Shape 13"/>
          <p:cNvSpPr/>
          <p:nvPr/>
        </p:nvSpPr>
        <p:spPr>
          <a:xfrm>
            <a:off x="4388908" y="1854795"/>
            <a:ext cx="3414183" cy="2638491"/>
          </a:xfrm>
          <a:prstGeom prst="roundRect">
            <a:avLst>
              <a:gd name="adj" fmla="val 3730"/>
            </a:avLst>
          </a:prstGeom>
          <a:solidFill>
            <a:srgbClr val="FDFCF9"/>
          </a:solidFill>
          <a:ln w="6350">
            <a:solidFill>
              <a:srgbClr val="E2E4DE"/>
            </a:solidFill>
            <a:prstDash val="solid"/>
          </a:ln>
        </p:spPr>
      </p:sp>
      <p:sp>
        <p:nvSpPr>
          <p:cNvPr id="16" name="Text 14"/>
          <p:cNvSpPr/>
          <p:nvPr/>
        </p:nvSpPr>
        <p:spPr>
          <a:xfrm>
            <a:off x="6827110" y="2059056"/>
            <a:ext cx="771723" cy="264120"/>
          </a:xfrm>
          <a:prstGeom prst="roundRect">
            <a:avLst>
              <a:gd name="adj" fmla="val 28851"/>
            </a:avLst>
          </a:prstGeom>
          <a:solidFill>
            <a:srgbClr val="E1EEEC"/>
          </a:solidFill>
          <a:ln/>
        </p:spPr>
        <p:txBody>
          <a:bodyPr wrap="none" lIns="0" tIns="0" rIns="0" bIns="0" rtlCol="0" anchor="ctr">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المرحلة 2</a:t>
            </a:r>
            <a:endParaRPr lang="en-US" sz="1200" dirty="0"/>
          </a:p>
        </p:txBody>
      </p:sp>
      <p:sp>
        <p:nvSpPr>
          <p:cNvPr id="17" name="Text 15"/>
          <p:cNvSpPr/>
          <p:nvPr/>
        </p:nvSpPr>
        <p:spPr>
          <a:xfrm>
            <a:off x="4502997" y="2424776"/>
            <a:ext cx="3095837"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تحليل المتطلبات</a:t>
            </a:r>
            <a:endParaRPr lang="en-US" sz="1600" dirty="0"/>
          </a:p>
        </p:txBody>
      </p:sp>
      <p:sp>
        <p:nvSpPr>
          <p:cNvPr id="18" name="Text 16"/>
          <p:cNvSpPr/>
          <p:nvPr/>
        </p:nvSpPr>
        <p:spPr>
          <a:xfrm>
            <a:off x="4507569" y="2790496"/>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تصنيف المتطلبات وظيفية وغير وظيفية</a:t>
            </a:r>
            <a:endParaRPr lang="en-US" sz="1400" dirty="0"/>
          </a:p>
        </p:txBody>
      </p:sp>
      <p:sp>
        <p:nvSpPr>
          <p:cNvPr id="19" name="Shape 17"/>
          <p:cNvSpPr/>
          <p:nvPr/>
        </p:nvSpPr>
        <p:spPr>
          <a:xfrm>
            <a:off x="7535334" y="2885746"/>
            <a:ext cx="63500" cy="63500"/>
          </a:xfrm>
          <a:prstGeom prst="roundRect">
            <a:avLst>
              <a:gd name="adj" fmla="val 20000"/>
            </a:avLst>
          </a:prstGeom>
          <a:solidFill>
            <a:srgbClr val="0F5C63"/>
          </a:solidFill>
          <a:ln/>
        </p:spPr>
      </p:sp>
      <p:sp>
        <p:nvSpPr>
          <p:cNvPr id="20" name="Text 18"/>
          <p:cNvSpPr/>
          <p:nvPr/>
        </p:nvSpPr>
        <p:spPr>
          <a:xfrm>
            <a:off x="4507569" y="3102902"/>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استخراج قواعد العمل والصلاحيات</a:t>
            </a:r>
            <a:endParaRPr lang="en-US" sz="1400" dirty="0"/>
          </a:p>
        </p:txBody>
      </p:sp>
      <p:sp>
        <p:nvSpPr>
          <p:cNvPr id="21" name="Shape 19"/>
          <p:cNvSpPr/>
          <p:nvPr/>
        </p:nvSpPr>
        <p:spPr>
          <a:xfrm>
            <a:off x="7535334" y="3198152"/>
            <a:ext cx="63500" cy="63500"/>
          </a:xfrm>
          <a:prstGeom prst="roundRect">
            <a:avLst>
              <a:gd name="adj" fmla="val 20000"/>
            </a:avLst>
          </a:prstGeom>
          <a:solidFill>
            <a:srgbClr val="0F5C63"/>
          </a:solidFill>
          <a:ln/>
        </p:spPr>
      </p:sp>
      <p:sp>
        <p:nvSpPr>
          <p:cNvPr id="22" name="Text 20"/>
          <p:cNvSpPr/>
          <p:nvPr/>
        </p:nvSpPr>
        <p:spPr>
          <a:xfrm>
            <a:off x="4507569" y="3415308"/>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تحديد سير العمل والحقول وشروط التحقق</a:t>
            </a:r>
            <a:endParaRPr lang="en-US" sz="1400" dirty="0"/>
          </a:p>
        </p:txBody>
      </p:sp>
      <p:sp>
        <p:nvSpPr>
          <p:cNvPr id="23" name="Shape 21"/>
          <p:cNvSpPr/>
          <p:nvPr/>
        </p:nvSpPr>
        <p:spPr>
          <a:xfrm>
            <a:off x="7535334" y="3510558"/>
            <a:ext cx="63500" cy="63500"/>
          </a:xfrm>
          <a:prstGeom prst="roundRect">
            <a:avLst>
              <a:gd name="adj" fmla="val 20000"/>
            </a:avLst>
          </a:prstGeom>
          <a:solidFill>
            <a:srgbClr val="0F5C63"/>
          </a:solidFill>
          <a:ln/>
        </p:spPr>
      </p:sp>
      <p:sp>
        <p:nvSpPr>
          <p:cNvPr id="24" name="Text 22"/>
          <p:cNvSpPr/>
          <p:nvPr/>
        </p:nvSpPr>
        <p:spPr>
          <a:xfrm>
            <a:off x="4507569" y="3727717"/>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استخراج معايير القبول</a:t>
            </a:r>
            <a:endParaRPr lang="en-US" sz="1400" dirty="0"/>
          </a:p>
        </p:txBody>
      </p:sp>
      <p:sp>
        <p:nvSpPr>
          <p:cNvPr id="25" name="Shape 23"/>
          <p:cNvSpPr/>
          <p:nvPr/>
        </p:nvSpPr>
        <p:spPr>
          <a:xfrm>
            <a:off x="7535334" y="3822967"/>
            <a:ext cx="63500" cy="63500"/>
          </a:xfrm>
          <a:prstGeom prst="roundRect">
            <a:avLst>
              <a:gd name="adj" fmla="val 20000"/>
            </a:avLst>
          </a:prstGeom>
          <a:solidFill>
            <a:srgbClr val="0F5C63"/>
          </a:solidFill>
          <a:ln/>
        </p:spPr>
      </p:sp>
      <p:sp>
        <p:nvSpPr>
          <p:cNvPr id="26" name="Text 24"/>
          <p:cNvSpPr/>
          <p:nvPr/>
        </p:nvSpPr>
        <p:spPr>
          <a:xfrm>
            <a:off x="4507569" y="4040122"/>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اكتشاف التعارض والتكرار والنقص</a:t>
            </a:r>
            <a:endParaRPr lang="en-US" sz="1400" dirty="0"/>
          </a:p>
        </p:txBody>
      </p:sp>
      <p:sp>
        <p:nvSpPr>
          <p:cNvPr id="27" name="Shape 25"/>
          <p:cNvSpPr/>
          <p:nvPr/>
        </p:nvSpPr>
        <p:spPr>
          <a:xfrm>
            <a:off x="7535334" y="4135372"/>
            <a:ext cx="63500" cy="63500"/>
          </a:xfrm>
          <a:prstGeom prst="roundRect">
            <a:avLst>
              <a:gd name="adj" fmla="val 20000"/>
            </a:avLst>
          </a:prstGeom>
          <a:solidFill>
            <a:srgbClr val="0F5C63"/>
          </a:solidFill>
          <a:ln/>
        </p:spPr>
      </p:sp>
      <p:sp>
        <p:nvSpPr>
          <p:cNvPr id="28" name="Shape 26"/>
          <p:cNvSpPr/>
          <p:nvPr/>
        </p:nvSpPr>
        <p:spPr>
          <a:xfrm>
            <a:off x="7961842" y="1854795"/>
            <a:ext cx="3414183" cy="2638491"/>
          </a:xfrm>
          <a:prstGeom prst="roundRect">
            <a:avLst>
              <a:gd name="adj" fmla="val 3730"/>
            </a:avLst>
          </a:prstGeom>
          <a:solidFill>
            <a:srgbClr val="FDFCF9"/>
          </a:solidFill>
          <a:ln w="6350">
            <a:solidFill>
              <a:srgbClr val="E2E4DE"/>
            </a:solidFill>
            <a:prstDash val="solid"/>
          </a:ln>
        </p:spPr>
      </p:sp>
      <p:sp>
        <p:nvSpPr>
          <p:cNvPr id="29" name="Text 27"/>
          <p:cNvSpPr/>
          <p:nvPr/>
        </p:nvSpPr>
        <p:spPr>
          <a:xfrm>
            <a:off x="10400043" y="2059056"/>
            <a:ext cx="771723" cy="264120"/>
          </a:xfrm>
          <a:prstGeom prst="roundRect">
            <a:avLst>
              <a:gd name="adj" fmla="val 28851"/>
            </a:avLst>
          </a:prstGeom>
          <a:solidFill>
            <a:srgbClr val="E1EEEC"/>
          </a:solidFill>
          <a:ln/>
        </p:spPr>
        <p:txBody>
          <a:bodyPr wrap="none" lIns="0" tIns="0" rIns="0" bIns="0" rtlCol="0" anchor="ctr">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المرحلة 1</a:t>
            </a:r>
            <a:endParaRPr lang="en-US" sz="1200" dirty="0"/>
          </a:p>
        </p:txBody>
      </p:sp>
      <p:sp>
        <p:nvSpPr>
          <p:cNvPr id="30" name="Text 28"/>
          <p:cNvSpPr/>
          <p:nvPr/>
        </p:nvSpPr>
        <p:spPr>
          <a:xfrm>
            <a:off x="8075930" y="2424776"/>
            <a:ext cx="3095837"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فهم المدخلات</a:t>
            </a:r>
            <a:endParaRPr lang="en-US" sz="1600" dirty="0"/>
          </a:p>
        </p:txBody>
      </p:sp>
      <p:sp>
        <p:nvSpPr>
          <p:cNvPr id="31" name="Text 29"/>
          <p:cNvSpPr/>
          <p:nvPr/>
        </p:nvSpPr>
        <p:spPr>
          <a:xfrm>
            <a:off x="8080502" y="2790496"/>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مراجعة جميع المصادر المتاحة</a:t>
            </a:r>
            <a:endParaRPr lang="en-US" sz="1400" dirty="0"/>
          </a:p>
        </p:txBody>
      </p:sp>
      <p:sp>
        <p:nvSpPr>
          <p:cNvPr id="32" name="Shape 30"/>
          <p:cNvSpPr/>
          <p:nvPr/>
        </p:nvSpPr>
        <p:spPr>
          <a:xfrm>
            <a:off x="11108267" y="2885746"/>
            <a:ext cx="63500" cy="63500"/>
          </a:xfrm>
          <a:prstGeom prst="roundRect">
            <a:avLst>
              <a:gd name="adj" fmla="val 20000"/>
            </a:avLst>
          </a:prstGeom>
          <a:solidFill>
            <a:srgbClr val="0F5C63"/>
          </a:solidFill>
          <a:ln/>
        </p:spPr>
      </p:sp>
      <p:sp>
        <p:nvSpPr>
          <p:cNvPr id="33" name="Text 31"/>
          <p:cNvSpPr/>
          <p:nvPr/>
        </p:nvSpPr>
        <p:spPr>
          <a:xfrm>
            <a:off x="8080502" y="3102902"/>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تحديد هدف النظام أو الخدمة</a:t>
            </a:r>
            <a:endParaRPr lang="en-US" sz="1400" dirty="0"/>
          </a:p>
        </p:txBody>
      </p:sp>
      <p:sp>
        <p:nvSpPr>
          <p:cNvPr id="34" name="Shape 32"/>
          <p:cNvSpPr/>
          <p:nvPr/>
        </p:nvSpPr>
        <p:spPr>
          <a:xfrm>
            <a:off x="11108267" y="3198152"/>
            <a:ext cx="63500" cy="63500"/>
          </a:xfrm>
          <a:prstGeom prst="roundRect">
            <a:avLst>
              <a:gd name="adj" fmla="val 20000"/>
            </a:avLst>
          </a:prstGeom>
          <a:solidFill>
            <a:srgbClr val="0F5C63"/>
          </a:solidFill>
          <a:ln/>
        </p:spPr>
      </p:sp>
      <p:sp>
        <p:nvSpPr>
          <p:cNvPr id="35" name="Text 33"/>
          <p:cNvSpPr/>
          <p:nvPr/>
        </p:nvSpPr>
        <p:spPr>
          <a:xfrm>
            <a:off x="8080502" y="3415308"/>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استخراج الجهات والمستخدمين والأدوار</a:t>
            </a:r>
            <a:endParaRPr lang="en-US" sz="1400" dirty="0"/>
          </a:p>
        </p:txBody>
      </p:sp>
      <p:sp>
        <p:nvSpPr>
          <p:cNvPr id="36" name="Shape 34"/>
          <p:cNvSpPr/>
          <p:nvPr/>
        </p:nvSpPr>
        <p:spPr>
          <a:xfrm>
            <a:off x="11108267" y="3510558"/>
            <a:ext cx="63500" cy="63500"/>
          </a:xfrm>
          <a:prstGeom prst="roundRect">
            <a:avLst>
              <a:gd name="adj" fmla="val 20000"/>
            </a:avLst>
          </a:prstGeom>
          <a:solidFill>
            <a:srgbClr val="0F5C63"/>
          </a:solidFill>
          <a:ln/>
        </p:spPr>
      </p:sp>
      <p:sp>
        <p:nvSpPr>
          <p:cNvPr id="37" name="Text 35"/>
          <p:cNvSpPr/>
          <p:nvPr/>
        </p:nvSpPr>
        <p:spPr>
          <a:xfrm>
            <a:off x="8080502" y="3727717"/>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استخراج المتطلبات والعمليات والبيانات</a:t>
            </a:r>
            <a:endParaRPr lang="en-US" sz="1400" dirty="0"/>
          </a:p>
        </p:txBody>
      </p:sp>
      <p:sp>
        <p:nvSpPr>
          <p:cNvPr id="38" name="Shape 36"/>
          <p:cNvSpPr/>
          <p:nvPr/>
        </p:nvSpPr>
        <p:spPr>
          <a:xfrm>
            <a:off x="11108267" y="3822967"/>
            <a:ext cx="63500" cy="63500"/>
          </a:xfrm>
          <a:prstGeom prst="roundRect">
            <a:avLst>
              <a:gd name="adj" fmla="val 20000"/>
            </a:avLst>
          </a:prstGeom>
          <a:solidFill>
            <a:srgbClr val="0F5C63"/>
          </a:solidFill>
          <a:ln/>
        </p:spPr>
      </p:sp>
      <p:sp>
        <p:nvSpPr>
          <p:cNvPr id="39" name="Text 37"/>
          <p:cNvSpPr/>
          <p:nvPr/>
        </p:nvSpPr>
        <p:spPr>
          <a:xfrm>
            <a:off x="8080502" y="4040122"/>
            <a:ext cx="2938865"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تحديد مصدر كل معلومة</a:t>
            </a:r>
            <a:endParaRPr lang="en-US" sz="1400" dirty="0"/>
          </a:p>
        </p:txBody>
      </p:sp>
      <p:sp>
        <p:nvSpPr>
          <p:cNvPr id="40" name="Shape 38"/>
          <p:cNvSpPr/>
          <p:nvPr/>
        </p:nvSpPr>
        <p:spPr>
          <a:xfrm>
            <a:off x="11108267" y="4135372"/>
            <a:ext cx="63500" cy="63500"/>
          </a:xfrm>
          <a:prstGeom prst="roundRect">
            <a:avLst>
              <a:gd name="adj" fmla="val 20000"/>
            </a:avLst>
          </a:prstGeom>
          <a:solidFill>
            <a:srgbClr val="0F5C63"/>
          </a:solidFill>
          <a:ln/>
        </p:spPr>
      </p:sp>
      <p:sp>
        <p:nvSpPr>
          <p:cNvPr id="41" name="Text 39"/>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إعداد المشروع</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القواعد الإلزامية العشر</a:t>
            </a:r>
            <a:endParaRPr lang="en-US" sz="3000" dirty="0"/>
          </a:p>
        </p:txBody>
      </p:sp>
      <p:sp>
        <p:nvSpPr>
          <p:cNvPr id="4" name="Shape 2"/>
          <p:cNvSpPr/>
          <p:nvPr/>
        </p:nvSpPr>
        <p:spPr>
          <a:xfrm>
            <a:off x="815975" y="1854795"/>
            <a:ext cx="5200650" cy="1635257"/>
          </a:xfrm>
          <a:prstGeom prst="roundRect">
            <a:avLst>
              <a:gd name="adj" fmla="val 6019"/>
            </a:avLst>
          </a:prstGeom>
          <a:solidFill>
            <a:srgbClr val="FDFCF9"/>
          </a:solidFill>
          <a:ln w="6350">
            <a:solidFill>
              <a:srgbClr val="E2E4DE"/>
            </a:solidFill>
            <a:prstDash val="solid"/>
          </a:ln>
        </p:spPr>
      </p:sp>
      <p:sp>
        <p:nvSpPr>
          <p:cNvPr id="5" name="Text 3"/>
          <p:cNvSpPr/>
          <p:nvPr/>
        </p:nvSpPr>
        <p:spPr>
          <a:xfrm>
            <a:off x="849545" y="2033656"/>
            <a:ext cx="4988221"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الالتزام بالقالب</a:t>
            </a:r>
            <a:endParaRPr lang="en-US" sz="1600" dirty="0"/>
          </a:p>
        </p:txBody>
      </p:sp>
      <p:sp>
        <p:nvSpPr>
          <p:cNvPr id="6" name="Text 4"/>
          <p:cNvSpPr/>
          <p:nvPr/>
        </p:nvSpPr>
        <p:spPr>
          <a:xfrm>
            <a:off x="861737" y="2386676"/>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لا تغيير في القالب المعتمد</a:t>
            </a:r>
            <a:endParaRPr lang="en-US" sz="1400" dirty="0"/>
          </a:p>
        </p:txBody>
      </p:sp>
      <p:sp>
        <p:nvSpPr>
          <p:cNvPr id="7" name="Text 5"/>
          <p:cNvSpPr/>
          <p:nvPr/>
        </p:nvSpPr>
        <p:spPr>
          <a:xfrm>
            <a:off x="5532967" y="2391767"/>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3</a:t>
            </a:r>
            <a:endParaRPr lang="en-US" sz="1200" dirty="0"/>
          </a:p>
        </p:txBody>
      </p:sp>
      <p:sp>
        <p:nvSpPr>
          <p:cNvPr id="8" name="Shape 6"/>
          <p:cNvSpPr/>
          <p:nvPr/>
        </p:nvSpPr>
        <p:spPr>
          <a:xfrm>
            <a:off x="6175375" y="1854795"/>
            <a:ext cx="5200650" cy="1635257"/>
          </a:xfrm>
          <a:prstGeom prst="roundRect">
            <a:avLst>
              <a:gd name="adj" fmla="val 6019"/>
            </a:avLst>
          </a:prstGeom>
          <a:solidFill>
            <a:srgbClr val="FDFCF9"/>
          </a:solidFill>
          <a:ln w="6350">
            <a:solidFill>
              <a:srgbClr val="E2E4DE"/>
            </a:solidFill>
            <a:prstDash val="solid"/>
          </a:ln>
        </p:spPr>
      </p:sp>
      <p:sp>
        <p:nvSpPr>
          <p:cNvPr id="9" name="Text 7"/>
          <p:cNvSpPr/>
          <p:nvPr/>
        </p:nvSpPr>
        <p:spPr>
          <a:xfrm>
            <a:off x="6208945" y="2033656"/>
            <a:ext cx="4988221"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الأمانة للمصادر</a:t>
            </a:r>
            <a:endParaRPr lang="en-US" sz="1600" dirty="0"/>
          </a:p>
        </p:txBody>
      </p:sp>
      <p:sp>
        <p:nvSpPr>
          <p:cNvPr id="10" name="Text 8"/>
          <p:cNvSpPr/>
          <p:nvPr/>
        </p:nvSpPr>
        <p:spPr>
          <a:xfrm>
            <a:off x="6221137" y="2386676"/>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لا متطلبات من خارج المصادر</a:t>
            </a:r>
            <a:endParaRPr lang="en-US" sz="1400" dirty="0"/>
          </a:p>
        </p:txBody>
      </p:sp>
      <p:sp>
        <p:nvSpPr>
          <p:cNvPr id="11" name="Text 9"/>
          <p:cNvSpPr/>
          <p:nvPr/>
        </p:nvSpPr>
        <p:spPr>
          <a:xfrm>
            <a:off x="10892367" y="2391767"/>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1</a:t>
            </a:r>
            <a:endParaRPr lang="en-US" sz="1200" dirty="0"/>
          </a:p>
        </p:txBody>
      </p:sp>
      <p:sp>
        <p:nvSpPr>
          <p:cNvPr id="12" name="Text 10"/>
          <p:cNvSpPr/>
          <p:nvPr/>
        </p:nvSpPr>
        <p:spPr>
          <a:xfrm>
            <a:off x="6221137" y="2724482"/>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لا إجراءات أو صلاحيات غير مذكورة</a:t>
            </a:r>
            <a:endParaRPr lang="en-US" sz="1400" dirty="0"/>
          </a:p>
        </p:txBody>
      </p:sp>
      <p:sp>
        <p:nvSpPr>
          <p:cNvPr id="13" name="Text 11"/>
          <p:cNvSpPr/>
          <p:nvPr/>
        </p:nvSpPr>
        <p:spPr>
          <a:xfrm>
            <a:off x="10892367" y="2729576"/>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2</a:t>
            </a:r>
            <a:endParaRPr lang="en-US" sz="1200" dirty="0"/>
          </a:p>
        </p:txBody>
      </p:sp>
      <p:sp>
        <p:nvSpPr>
          <p:cNvPr id="14" name="Text 12"/>
          <p:cNvSpPr/>
          <p:nvPr/>
        </p:nvSpPr>
        <p:spPr>
          <a:xfrm>
            <a:off x="6221137" y="3062288"/>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لا توصيات أو وظائف خارج النطاق المحدد</a:t>
            </a:r>
            <a:endParaRPr lang="en-US" sz="1400" dirty="0"/>
          </a:p>
        </p:txBody>
      </p:sp>
      <p:sp>
        <p:nvSpPr>
          <p:cNvPr id="15" name="Text 13"/>
          <p:cNvSpPr/>
          <p:nvPr/>
        </p:nvSpPr>
        <p:spPr>
          <a:xfrm>
            <a:off x="10892367" y="3067382"/>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10</a:t>
            </a:r>
            <a:endParaRPr lang="en-US" sz="1200" dirty="0"/>
          </a:p>
        </p:txBody>
      </p:sp>
      <p:sp>
        <p:nvSpPr>
          <p:cNvPr id="16" name="Shape 14"/>
          <p:cNvSpPr/>
          <p:nvPr/>
        </p:nvSpPr>
        <p:spPr>
          <a:xfrm>
            <a:off x="815975" y="3648804"/>
            <a:ext cx="5200650" cy="1973064"/>
          </a:xfrm>
          <a:prstGeom prst="roundRect">
            <a:avLst>
              <a:gd name="adj" fmla="val 4988"/>
            </a:avLst>
          </a:prstGeom>
          <a:solidFill>
            <a:srgbClr val="FDFCF9"/>
          </a:solidFill>
          <a:ln w="6350">
            <a:solidFill>
              <a:srgbClr val="E2E4DE"/>
            </a:solidFill>
            <a:prstDash val="solid"/>
          </a:ln>
        </p:spPr>
      </p:sp>
      <p:sp>
        <p:nvSpPr>
          <p:cNvPr id="17" name="Text 15"/>
          <p:cNvSpPr/>
          <p:nvPr/>
        </p:nvSpPr>
        <p:spPr>
          <a:xfrm>
            <a:off x="849545" y="3827661"/>
            <a:ext cx="4988221"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التعارض والنقص</a:t>
            </a:r>
            <a:endParaRPr lang="en-US" sz="1600" dirty="0"/>
          </a:p>
        </p:txBody>
      </p:sp>
      <p:sp>
        <p:nvSpPr>
          <p:cNvPr id="18" name="Text 16"/>
          <p:cNvSpPr/>
          <p:nvPr/>
        </p:nvSpPr>
        <p:spPr>
          <a:xfrm>
            <a:off x="861737" y="4180681"/>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تحديد التعارض بين المصادر قبل الاعتماد</a:t>
            </a:r>
            <a:endParaRPr lang="en-US" sz="1400" dirty="0"/>
          </a:p>
        </p:txBody>
      </p:sp>
      <p:sp>
        <p:nvSpPr>
          <p:cNvPr id="19" name="Text 17"/>
          <p:cNvSpPr/>
          <p:nvPr/>
        </p:nvSpPr>
        <p:spPr>
          <a:xfrm>
            <a:off x="5532967" y="4185776"/>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6</a:t>
            </a:r>
            <a:endParaRPr lang="en-US" sz="1200" dirty="0"/>
          </a:p>
        </p:txBody>
      </p:sp>
      <p:sp>
        <p:nvSpPr>
          <p:cNvPr id="20" name="Text 18"/>
          <p:cNvSpPr/>
          <p:nvPr/>
        </p:nvSpPr>
        <p:spPr>
          <a:xfrm>
            <a:off x="861737" y="4518490"/>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طلب توضيح محدد عند نقص معلومات أساسية</a:t>
            </a:r>
            <a:endParaRPr lang="en-US" sz="1400" dirty="0"/>
          </a:p>
        </p:txBody>
      </p:sp>
      <p:sp>
        <p:nvSpPr>
          <p:cNvPr id="21" name="Text 19"/>
          <p:cNvSpPr/>
          <p:nvPr/>
        </p:nvSpPr>
        <p:spPr>
          <a:xfrm>
            <a:off x="5532967" y="4523581"/>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7</a:t>
            </a:r>
            <a:endParaRPr lang="en-US" sz="1200" dirty="0"/>
          </a:p>
        </p:txBody>
      </p:sp>
      <p:sp>
        <p:nvSpPr>
          <p:cNvPr id="22" name="Text 20"/>
          <p:cNvSpPr/>
          <p:nvPr/>
        </p:nvSpPr>
        <p:spPr>
          <a:xfrm>
            <a:off x="861737" y="4856296"/>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فصل المؤكد عمّا يحتاج قرارًا</a:t>
            </a:r>
            <a:endParaRPr lang="en-US" sz="1400" dirty="0"/>
          </a:p>
        </p:txBody>
      </p:sp>
      <p:sp>
        <p:nvSpPr>
          <p:cNvPr id="23" name="Text 21"/>
          <p:cNvSpPr/>
          <p:nvPr/>
        </p:nvSpPr>
        <p:spPr>
          <a:xfrm>
            <a:off x="5532967" y="4861390"/>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F8E9D7"/>
          </a:solidFill>
          <a:ln/>
        </p:spPr>
        <p:txBody>
          <a:bodyPr wrap="square" lIns="0" tIns="12700" rIns="0" bIns="0" rtlCol="0" anchor="t">
            <a:normAutofit/>
          </a:bodyPr>
          <a:lstStyle/>
          <a:p>
            <a:pPr algn="ctr" indent="0" marL="0">
              <a:lnSpc>
                <a:spcPts val="1680"/>
              </a:lnSpc>
              <a:buNone/>
            </a:pPr>
            <a:r>
              <a:rPr lang="en-US" sz="1200" b="1" dirty="0">
                <a:solidFill>
                  <a:srgbClr val="A65A0E"/>
                </a:solidFill>
                <a:latin typeface="IBM Plex Sans Arabic" pitchFamily="34" charset="0"/>
                <a:ea typeface="IBM Plex Sans Arabic" pitchFamily="34" charset="-122"/>
                <a:cs typeface="IBM Plex Sans Arabic" pitchFamily="34" charset="-120"/>
              </a:rPr>
              <a:t>8</a:t>
            </a:r>
            <a:endParaRPr lang="en-US" sz="1200" dirty="0"/>
          </a:p>
        </p:txBody>
      </p:sp>
      <p:sp>
        <p:nvSpPr>
          <p:cNvPr id="24" name="Text 22"/>
          <p:cNvSpPr/>
          <p:nvPr/>
        </p:nvSpPr>
        <p:spPr>
          <a:xfrm>
            <a:off x="861737" y="5194102"/>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اعتماد أحدث تعديل صريح ومعتمد</a:t>
            </a:r>
            <a:endParaRPr lang="en-US" sz="1400" dirty="0"/>
          </a:p>
        </p:txBody>
      </p:sp>
      <p:sp>
        <p:nvSpPr>
          <p:cNvPr id="25" name="Text 23"/>
          <p:cNvSpPr/>
          <p:nvPr/>
        </p:nvSpPr>
        <p:spPr>
          <a:xfrm>
            <a:off x="5532967" y="5199196"/>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9</a:t>
            </a:r>
            <a:endParaRPr lang="en-US" sz="1200" dirty="0"/>
          </a:p>
        </p:txBody>
      </p:sp>
      <p:sp>
        <p:nvSpPr>
          <p:cNvPr id="26" name="Shape 24"/>
          <p:cNvSpPr/>
          <p:nvPr/>
        </p:nvSpPr>
        <p:spPr>
          <a:xfrm>
            <a:off x="6175375" y="3648804"/>
            <a:ext cx="5200650" cy="1973064"/>
          </a:xfrm>
          <a:prstGeom prst="roundRect">
            <a:avLst>
              <a:gd name="adj" fmla="val 4988"/>
            </a:avLst>
          </a:prstGeom>
          <a:solidFill>
            <a:srgbClr val="FDFCF9"/>
          </a:solidFill>
          <a:ln w="6350">
            <a:solidFill>
              <a:srgbClr val="E2E4DE"/>
            </a:solidFill>
            <a:prstDash val="solid"/>
          </a:ln>
        </p:spPr>
      </p:sp>
      <p:sp>
        <p:nvSpPr>
          <p:cNvPr id="27" name="Text 25"/>
          <p:cNvSpPr/>
          <p:nvPr/>
        </p:nvSpPr>
        <p:spPr>
          <a:xfrm>
            <a:off x="6208945" y="3827661"/>
            <a:ext cx="4988221"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جودة الصياغة</a:t>
            </a:r>
            <a:endParaRPr lang="en-US" sz="1600" dirty="0"/>
          </a:p>
        </p:txBody>
      </p:sp>
      <p:sp>
        <p:nvSpPr>
          <p:cNvPr id="28" name="Text 26"/>
          <p:cNvSpPr/>
          <p:nvPr/>
        </p:nvSpPr>
        <p:spPr>
          <a:xfrm>
            <a:off x="6221137" y="4180681"/>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لا خلط بين قواعد العمل ومعايير القبول</a:t>
            </a:r>
            <a:endParaRPr lang="en-US" sz="1400" dirty="0"/>
          </a:p>
        </p:txBody>
      </p:sp>
      <p:sp>
        <p:nvSpPr>
          <p:cNvPr id="29" name="Text 27"/>
          <p:cNvSpPr/>
          <p:nvPr/>
        </p:nvSpPr>
        <p:spPr>
          <a:xfrm>
            <a:off x="10892367" y="4185776"/>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4</a:t>
            </a:r>
            <a:endParaRPr lang="en-US" sz="1200" dirty="0"/>
          </a:p>
        </p:txBody>
      </p:sp>
      <p:sp>
        <p:nvSpPr>
          <p:cNvPr id="30" name="Text 28"/>
          <p:cNvSpPr/>
          <p:nvPr/>
        </p:nvSpPr>
        <p:spPr>
          <a:xfrm>
            <a:off x="6221137" y="4518490"/>
            <a:ext cx="4569629"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لا تكرار للمتطلبات بصيغ متعارضة</a:t>
            </a:r>
            <a:endParaRPr lang="en-US" sz="1400" dirty="0"/>
          </a:p>
        </p:txBody>
      </p:sp>
      <p:sp>
        <p:nvSpPr>
          <p:cNvPr id="31" name="Text 29"/>
          <p:cNvSpPr/>
          <p:nvPr/>
        </p:nvSpPr>
        <p:spPr>
          <a:xfrm>
            <a:off x="10892367" y="4523581"/>
            <a:ext cx="304800" cy="238720"/>
          </a:xfrm>
          <a:custGeom>
            <a:avLst/>
            <a:gdLst/>
            <a:ahLst/>
            <a:cxnLst/>
            <a:rect l="l" t="t" r="r" b="b"/>
            <a:pathLst>
              <a:path w="304800" h="238720">
                <a:moveTo>
                  <a:pt x="63500" y="0"/>
                </a:moveTo>
                <a:lnTo>
                  <a:pt x="241300" y="0"/>
                </a:lnTo>
                <a:arcTo hR="63500" wR="63500" stAng="16200000" swAng="5400000"/>
                <a:lnTo>
                  <a:pt x="3048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5</a:t>
            </a:r>
            <a:endParaRPr lang="en-US" sz="1200" dirty="0"/>
          </a:p>
        </p:txBody>
      </p:sp>
      <p:sp>
        <p:nvSpPr>
          <p:cNvPr id="32" name="Text 30"/>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التطبيق: نظام المراجعة الداخلية</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مراجعة المدخلات قبل الإعداد</a:t>
            </a:r>
            <a:endParaRPr lang="en-US" sz="3000" dirty="0"/>
          </a:p>
        </p:txBody>
      </p:sp>
      <p:sp>
        <p:nvSpPr>
          <p:cNvPr id="4" name="Shape 2"/>
          <p:cNvSpPr/>
          <p:nvPr/>
        </p:nvSpPr>
        <p:spPr>
          <a:xfrm>
            <a:off x="11376025" y="1851620"/>
            <a:ext cx="0" cy="2340967"/>
          </a:xfrm>
          <a:prstGeom prst="line">
            <a:avLst/>
          </a:prstGeom>
          <a:noFill/>
          <a:ln w="6350">
            <a:solidFill>
              <a:srgbClr val="D9DDD6"/>
            </a:solidFill>
            <a:prstDash val="solid"/>
          </a:ln>
        </p:spPr>
      </p:sp>
      <p:sp>
        <p:nvSpPr>
          <p:cNvPr id="5" name="Shape 3"/>
          <p:cNvSpPr/>
          <p:nvPr/>
        </p:nvSpPr>
        <p:spPr>
          <a:xfrm>
            <a:off x="812800" y="4189413"/>
            <a:ext cx="10566400" cy="0"/>
          </a:xfrm>
          <a:prstGeom prst="line">
            <a:avLst/>
          </a:prstGeom>
          <a:noFill/>
          <a:ln w="6350">
            <a:solidFill>
              <a:srgbClr val="D9DDD6"/>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4320"/>
          <a:ext cx="10549467" cy="2324034"/>
        </p:xfrm>
        <a:graphic>
          <a:graphicData uri="http://schemas.openxmlformats.org/drawingml/2006/table">
            <a:tbl>
              <a:tblPr/>
              <a:tblGrid>
                <a:gridCol w="3586819"/>
                <a:gridCol w="3481324"/>
                <a:gridCol w="3481324"/>
              </a:tblGrid>
              <a:tr h="464807">
                <a:tc>
                  <a:txBody>
                    <a:bodyPr/>
                    <a:lstStyle/>
                    <a:p>
                      <a:pPr algn="r" indent="0" marL="0">
                        <a:lnSpc>
                          <a:spcPts val="196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القرار</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4C4C0"/>
                      </a:solidFill>
                      <a:prstDash val="solid"/>
                      <a:round/>
                      <a:headEnd type="none" w="med" len="med"/>
                      <a:tailEnd type="none" w="med" len="med"/>
                    </a:lnL>
                    <a:lnR w="12700" cap="flat" cmpd="sng" algn="ctr">
                      <a:solidFill>
                        <a:srgbClr val="B4BEBC"/>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4BEBC"/>
                      </a:solidFill>
                      <a:prstDash val="solid"/>
                      <a:round/>
                      <a:headEnd type="none" w="med" len="med"/>
                      <a:tailEnd type="none" w="med" len="med"/>
                    </a:lnB>
                    <a:solidFill>
                      <a:srgbClr val="E1EEEC"/>
                    </a:solidFill>
                  </a:tcPr>
                </a:tc>
                <a:tc>
                  <a:txBody>
                    <a:bodyPr/>
                    <a:lstStyle/>
                    <a:p>
                      <a:pPr algn="r" indent="0" marL="0">
                        <a:lnSpc>
                          <a:spcPts val="1960"/>
                        </a:lnSpc>
                        <a:buNone/>
                      </a:pPr>
                      <a:r>
                        <a:rPr lang="en-US" sz="1400" b="1" dirty="0">
                          <a:solidFill>
                            <a:srgbClr val="12343B"/>
                          </a:solidFill>
                          <a:latin typeface="IBM Plex Sans Arabic" pitchFamily="34" charset="0"/>
                          <a:ea typeface="IBM Plex Sans Arabic" pitchFamily="34" charset="-122"/>
                          <a:cs typeface="IBM Plex Sans Arabic" pitchFamily="34" charset="-120"/>
                        </a:rPr>
                        <a:t>ما وُجد فيه</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B4BEBC"/>
                      </a:solidFill>
                      <a:prstDash val="solid"/>
                      <a:round/>
                      <a:headEnd type="none" w="med" len="med"/>
                      <a:tailEnd type="none" w="med" len="med"/>
                    </a:lnL>
                    <a:lnR w="12700" cap="flat" cmpd="sng" algn="ctr">
                      <a:solidFill>
                        <a:srgbClr val="B4BEBC"/>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4BEBC"/>
                      </a:solidFill>
                      <a:prstDash val="solid"/>
                      <a:round/>
                      <a:headEnd type="none" w="med" len="med"/>
                      <a:tailEnd type="none" w="med" len="med"/>
                    </a:lnB>
                    <a:solidFill>
                      <a:srgbClr val="E1EEEC"/>
                    </a:solidFill>
                  </a:tcPr>
                </a:tc>
                <a:tc>
                  <a:txBody>
                    <a:bodyPr/>
                    <a:lstStyle/>
                    <a:p>
                      <a:pPr algn="r" indent="0" marL="0">
                        <a:lnSpc>
                          <a:spcPts val="196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المدخل</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B4BEBC"/>
                      </a:solidFill>
                      <a:prstDash val="solid"/>
                      <a:round/>
                      <a:headEnd type="none" w="med" len="med"/>
                      <a:tailEnd type="none" w="med" len="med"/>
                    </a:lnL>
                    <a:lnR w="12700" cap="flat" cmpd="sng" algn="ctr">
                      <a:solidFill>
                        <a:srgbClr val="B4BEBC"/>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4BEBC"/>
                      </a:solidFill>
                      <a:prstDash val="solid"/>
                      <a:round/>
                      <a:headEnd type="none" w="med" len="med"/>
                      <a:tailEnd type="none" w="med" len="med"/>
                    </a:lnB>
                    <a:solidFill>
                      <a:srgbClr val="E1EEEC"/>
                    </a:solidFill>
                  </a:tcPr>
                </a:tc>
              </a:tr>
              <a:tr h="464807">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المصدر الوحيد لمحتوى الوثيقة</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4BEBC"/>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‫7 أدوار بصلاحياتها، و8 صلاحيات عامة‬</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4BEBC"/>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‫وثيقة صلاحيات المستخدمين (PDF)‬</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4BEBC"/>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64807">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لم يُعتمد مصدرًا، ثم أُعدّ للنظام</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4C4C0"/>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B"/>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قالب فارغ بعنوان «المنصة الموحدة»</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B"/>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‫ملف الحقول للخدمة (Excel)‬</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B"/>
                    </a:solidFill>
                  </a:tcPr>
                </a:tc>
              </a:tr>
              <a:tr h="464807">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بُني المخطط من «تدرج الاعتماد»</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صورة لا تحوي سوى العنوان</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‫مخطط سير العمل (PNG)‬</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C0BB"/>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64807">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استُخدم قالبًا لتجربة الخدمة</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4C4C0"/>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B"/>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نموذج عام بقيم افتراضية</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B"/>
                    </a:solidFill>
                  </a:tcPr>
                </a:tc>
                <a:tc>
                  <a:txBody>
                    <a:bodyPr/>
                    <a:lstStyle/>
                    <a:p>
                      <a:pPr algn="r" indent="0" marL="0">
                        <a:lnSpc>
                          <a:spcPts val="1960"/>
                        </a:lnSpc>
                        <a:buNone/>
                      </a:pPr>
                      <a:r>
                        <a:rPr lang="en-US" sz="1400" dirty="0">
                          <a:solidFill>
                            <a:srgbClr val="17282C"/>
                          </a:solidFill>
                          <a:latin typeface="IBM Plex Sans Arabic" pitchFamily="34" charset="0"/>
                          <a:ea typeface="IBM Plex Sans Arabic" pitchFamily="34" charset="-122"/>
                          <a:cs typeface="IBM Plex Sans Arabic" pitchFamily="34" charset="-120"/>
                        </a:rPr>
                        <a:t>‫تجربة خدمة إلكترونية (HTML)‬</a:t>
                      </a:r>
                      <a:endParaRPr lang="en-US" sz="1400" dirty="0">
                        <a:latin typeface="IBM Plex Sans Arabic" charset="0"/>
                        <a:ea typeface="IBM Plex Sans Arabic" charset="0"/>
                        <a:cs typeface="IBM Plex Sans Arabic" charset="0"/>
                      </a:endParaRPr>
                    </a:p>
                  </a:txBody>
                  <a:tcPr marL="152400" marR="152400" marT="101600" marB="101600" anchor="t">
                    <a:lnL w="12700" cap="flat" cmpd="sng" algn="ctr">
                      <a:solidFill>
                        <a:srgbClr val="C0C0BB"/>
                      </a:solidFill>
                      <a:prstDash val="solid"/>
                      <a:round/>
                      <a:headEnd type="none" w="med" len="med"/>
                      <a:tailEnd type="none" w="med" len="med"/>
                    </a:lnL>
                    <a:lnR w="12700" cap="flat" cmpd="sng" algn="ctr">
                      <a:solidFill>
                        <a:srgbClr val="C0C0BB"/>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C0BB"/>
                      </a:solidFill>
                      <a:prstDash val="solid"/>
                      <a:round/>
                      <a:headEnd type="none" w="med" len="med"/>
                      <a:tailEnd type="none" w="med" len="med"/>
                    </a:lnB>
                    <a:solidFill>
                      <a:srgbClr val="F1F0EB"/>
                    </a:solidFill>
                  </a:tcPr>
                </a:tc>
              </a:tr>
            </a:tbl>
          </a:graphicData>
        </a:graphic>
      </p:graphicFrame>
      <p:sp>
        <p:nvSpPr>
          <p:cNvPr id="7" name="Text 4"/>
          <p:cNvSpPr/>
          <p:nvPr/>
        </p:nvSpPr>
        <p:spPr>
          <a:xfrm>
            <a:off x="495808" y="4446588"/>
            <a:ext cx="10883392" cy="2921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4F6266"/>
                </a:solidFill>
                <a:latin typeface="IBM Plex Sans Arabic" pitchFamily="34" charset="0"/>
                <a:ea typeface="IBM Plex Sans Arabic" pitchFamily="34" charset="-122"/>
                <a:cs typeface="IBM Plex Sans Arabic" pitchFamily="34" charset="-120"/>
              </a:rPr>
              <a:t>أُبلغت نتيجة المراجعة قبل البدء، ثم أُعدّت الوثيقة لأن المدخلات كانت كافية</a:t>
            </a:r>
            <a:endParaRPr lang="en-US" sz="1400" dirty="0"/>
          </a:p>
        </p:txBody>
      </p:sp>
      <p:sp>
        <p:nvSpPr>
          <p:cNvPr id="8" name="Text 5"/>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التطبيق: نظام المراجعة الداخلية</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خطوات التنفيذ</a:t>
            </a:r>
            <a:endParaRPr lang="en-US" sz="3000" dirty="0"/>
          </a:p>
        </p:txBody>
      </p:sp>
      <p:sp>
        <p:nvSpPr>
          <p:cNvPr id="4" name="Shape 2"/>
          <p:cNvSpPr/>
          <p:nvPr/>
        </p:nvSpPr>
        <p:spPr>
          <a:xfrm>
            <a:off x="815975" y="1854795"/>
            <a:ext cx="2520950" cy="1317757"/>
          </a:xfrm>
          <a:prstGeom prst="roundRect">
            <a:avLst>
              <a:gd name="adj" fmla="val 7469"/>
            </a:avLst>
          </a:prstGeom>
          <a:solidFill>
            <a:srgbClr val="FDFCF9"/>
          </a:solidFill>
          <a:ln w="6350">
            <a:solidFill>
              <a:srgbClr val="E2E4DE"/>
            </a:solidFill>
            <a:prstDash val="solid"/>
          </a:ln>
        </p:spPr>
      </p:sp>
      <p:sp>
        <p:nvSpPr>
          <p:cNvPr id="5" name="Text 3"/>
          <p:cNvSpPr/>
          <p:nvPr/>
        </p:nvSpPr>
        <p:spPr>
          <a:xfrm>
            <a:off x="2802467" y="2033656"/>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F5C63"/>
          </a:solidFill>
          <a:ln/>
        </p:spPr>
        <p:txBody>
          <a:bodyPr wrap="square" lIns="0" tIns="0" rIns="0" bIns="0" rtlCol="0" anchor="t">
            <a:normAutofit/>
          </a:bodyPr>
          <a:lstStyle/>
          <a:p>
            <a:pPr algn="ctr" indent="0" marL="0">
              <a:lnSpc>
                <a:spcPts val="2800"/>
              </a:lnSpc>
              <a:buNone/>
            </a:pPr>
            <a:r>
              <a:rPr lang="en-US" sz="1400" b="1" dirty="0">
                <a:solidFill>
                  <a:srgbClr val="F4F8F7"/>
                </a:solidFill>
                <a:latin typeface="IBM Plex Sans Arabic" pitchFamily="34" charset="0"/>
                <a:ea typeface="IBM Plex Sans Arabic" pitchFamily="34" charset="-122"/>
                <a:cs typeface="IBM Plex Sans Arabic" pitchFamily="34" charset="-120"/>
              </a:rPr>
              <a:t>4</a:t>
            </a:r>
            <a:endParaRPr lang="en-US" sz="1400" dirty="0"/>
          </a:p>
        </p:txBody>
      </p:sp>
      <p:sp>
        <p:nvSpPr>
          <p:cNvPr id="6" name="Text 4"/>
          <p:cNvSpPr/>
          <p:nvPr/>
        </p:nvSpPr>
        <p:spPr>
          <a:xfrm>
            <a:off x="929936" y="2465456"/>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صياغة خصائص المستخدم</a:t>
            </a:r>
            <a:endParaRPr lang="en-US" sz="1400" dirty="0"/>
          </a:p>
        </p:txBody>
      </p:sp>
      <p:sp>
        <p:nvSpPr>
          <p:cNvPr id="7" name="Text 5"/>
          <p:cNvSpPr/>
          <p:nvPr/>
        </p:nvSpPr>
        <p:spPr>
          <a:xfrm>
            <a:off x="929936" y="2772767"/>
            <a:ext cx="2228130"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معايير قبول وقواعد عمل لكل خاصية</a:t>
            </a:r>
            <a:endParaRPr lang="en-US" sz="1200" dirty="0"/>
          </a:p>
        </p:txBody>
      </p:sp>
      <p:sp>
        <p:nvSpPr>
          <p:cNvPr id="8" name="Shape 6"/>
          <p:cNvSpPr/>
          <p:nvPr/>
        </p:nvSpPr>
        <p:spPr>
          <a:xfrm>
            <a:off x="3495675" y="1854795"/>
            <a:ext cx="2520950" cy="1317757"/>
          </a:xfrm>
          <a:prstGeom prst="roundRect">
            <a:avLst>
              <a:gd name="adj" fmla="val 7469"/>
            </a:avLst>
          </a:prstGeom>
          <a:solidFill>
            <a:srgbClr val="FDFCF9"/>
          </a:solidFill>
          <a:ln w="6350">
            <a:solidFill>
              <a:srgbClr val="E2E4DE"/>
            </a:solidFill>
            <a:prstDash val="solid"/>
          </a:ln>
        </p:spPr>
      </p:sp>
      <p:sp>
        <p:nvSpPr>
          <p:cNvPr id="9" name="Text 7"/>
          <p:cNvSpPr/>
          <p:nvPr/>
        </p:nvSpPr>
        <p:spPr>
          <a:xfrm>
            <a:off x="5482167" y="2033656"/>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F5C63"/>
          </a:solidFill>
          <a:ln/>
        </p:spPr>
        <p:txBody>
          <a:bodyPr wrap="square" lIns="0" tIns="0" rIns="0" bIns="0" rtlCol="0" anchor="t">
            <a:normAutofit/>
          </a:bodyPr>
          <a:lstStyle/>
          <a:p>
            <a:pPr algn="ctr" indent="0" marL="0">
              <a:lnSpc>
                <a:spcPts val="2800"/>
              </a:lnSpc>
              <a:buNone/>
            </a:pPr>
            <a:r>
              <a:rPr lang="en-US" sz="1400" b="1" dirty="0">
                <a:solidFill>
                  <a:srgbClr val="F4F8F7"/>
                </a:solidFill>
                <a:latin typeface="IBM Plex Sans Arabic" pitchFamily="34" charset="0"/>
                <a:ea typeface="IBM Plex Sans Arabic" pitchFamily="34" charset="-122"/>
                <a:cs typeface="IBM Plex Sans Arabic" pitchFamily="34" charset="-120"/>
              </a:rPr>
              <a:t>3</a:t>
            </a:r>
            <a:endParaRPr lang="en-US" sz="1400" dirty="0"/>
          </a:p>
        </p:txBody>
      </p:sp>
      <p:sp>
        <p:nvSpPr>
          <p:cNvPr id="10" name="Text 8"/>
          <p:cNvSpPr/>
          <p:nvPr/>
        </p:nvSpPr>
        <p:spPr>
          <a:xfrm>
            <a:off x="3609636" y="2465456"/>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رسم سير الإجراءات</a:t>
            </a:r>
            <a:endParaRPr lang="en-US" sz="1400" dirty="0"/>
          </a:p>
        </p:txBody>
      </p:sp>
      <p:sp>
        <p:nvSpPr>
          <p:cNvPr id="11" name="Text 9"/>
          <p:cNvSpPr/>
          <p:nvPr/>
        </p:nvSpPr>
        <p:spPr>
          <a:xfrm>
            <a:off x="3609636" y="2772767"/>
            <a:ext cx="2228130"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من «تدرج الاعتماد» مع مسار الإعادة</a:t>
            </a:r>
            <a:endParaRPr lang="en-US" sz="1200" dirty="0"/>
          </a:p>
        </p:txBody>
      </p:sp>
      <p:sp>
        <p:nvSpPr>
          <p:cNvPr id="12" name="Shape 10"/>
          <p:cNvSpPr/>
          <p:nvPr/>
        </p:nvSpPr>
        <p:spPr>
          <a:xfrm>
            <a:off x="6175375" y="1854795"/>
            <a:ext cx="2520950" cy="1317757"/>
          </a:xfrm>
          <a:prstGeom prst="roundRect">
            <a:avLst>
              <a:gd name="adj" fmla="val 7469"/>
            </a:avLst>
          </a:prstGeom>
          <a:solidFill>
            <a:srgbClr val="FDFCF9"/>
          </a:solidFill>
          <a:ln w="6350">
            <a:solidFill>
              <a:srgbClr val="E2E4DE"/>
            </a:solidFill>
            <a:prstDash val="solid"/>
          </a:ln>
        </p:spPr>
      </p:sp>
      <p:sp>
        <p:nvSpPr>
          <p:cNvPr id="13" name="Text 11"/>
          <p:cNvSpPr/>
          <p:nvPr/>
        </p:nvSpPr>
        <p:spPr>
          <a:xfrm>
            <a:off x="8161867" y="2033656"/>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F5C63"/>
          </a:solidFill>
          <a:ln/>
        </p:spPr>
        <p:txBody>
          <a:bodyPr wrap="square" lIns="0" tIns="0" rIns="0" bIns="0" rtlCol="0" anchor="t">
            <a:normAutofit/>
          </a:bodyPr>
          <a:lstStyle/>
          <a:p>
            <a:pPr algn="ctr" indent="0" marL="0">
              <a:lnSpc>
                <a:spcPts val="2800"/>
              </a:lnSpc>
              <a:buNone/>
            </a:pPr>
            <a:r>
              <a:rPr lang="en-US" sz="1400" b="1" dirty="0">
                <a:solidFill>
                  <a:srgbClr val="F4F8F7"/>
                </a:solidFill>
                <a:latin typeface="IBM Plex Sans Arabic" pitchFamily="34" charset="0"/>
                <a:ea typeface="IBM Plex Sans Arabic" pitchFamily="34" charset="-122"/>
                <a:cs typeface="IBM Plex Sans Arabic" pitchFamily="34" charset="-120"/>
              </a:rPr>
              <a:t>2</a:t>
            </a:r>
            <a:endParaRPr lang="en-US" sz="1400" dirty="0"/>
          </a:p>
        </p:txBody>
      </p:sp>
      <p:sp>
        <p:nvSpPr>
          <p:cNvPr id="14" name="Text 12"/>
          <p:cNvSpPr/>
          <p:nvPr/>
        </p:nvSpPr>
        <p:spPr>
          <a:xfrm>
            <a:off x="6289336" y="2465456"/>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استخراج الأدوار والصلاحيات</a:t>
            </a:r>
            <a:endParaRPr lang="en-US" sz="1400" dirty="0"/>
          </a:p>
        </p:txBody>
      </p:sp>
      <p:sp>
        <p:nvSpPr>
          <p:cNvPr id="15" name="Text 13"/>
          <p:cNvSpPr/>
          <p:nvPr/>
        </p:nvSpPr>
        <p:spPr>
          <a:xfrm>
            <a:off x="6178550" y="2772767"/>
            <a:ext cx="2338917"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‫7 أدوار، و61 صلاحية، وقواعدها العامة‬</a:t>
            </a:r>
            <a:endParaRPr lang="en-US" sz="1200" dirty="0"/>
          </a:p>
        </p:txBody>
      </p:sp>
      <p:sp>
        <p:nvSpPr>
          <p:cNvPr id="16" name="Shape 14"/>
          <p:cNvSpPr/>
          <p:nvPr/>
        </p:nvSpPr>
        <p:spPr>
          <a:xfrm>
            <a:off x="8855075" y="1854795"/>
            <a:ext cx="2520950" cy="1317757"/>
          </a:xfrm>
          <a:prstGeom prst="roundRect">
            <a:avLst>
              <a:gd name="adj" fmla="val 7469"/>
            </a:avLst>
          </a:prstGeom>
          <a:solidFill>
            <a:srgbClr val="FDFCF9"/>
          </a:solidFill>
          <a:ln w="6350">
            <a:solidFill>
              <a:srgbClr val="E2E4DE"/>
            </a:solidFill>
            <a:prstDash val="solid"/>
          </a:ln>
        </p:spPr>
      </p:sp>
      <p:sp>
        <p:nvSpPr>
          <p:cNvPr id="17" name="Text 15"/>
          <p:cNvSpPr/>
          <p:nvPr/>
        </p:nvSpPr>
        <p:spPr>
          <a:xfrm>
            <a:off x="10841567" y="2033656"/>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F5C63"/>
          </a:solidFill>
          <a:ln/>
        </p:spPr>
        <p:txBody>
          <a:bodyPr wrap="square" lIns="0" tIns="0" rIns="0" bIns="0" rtlCol="0" anchor="t">
            <a:normAutofit/>
          </a:bodyPr>
          <a:lstStyle/>
          <a:p>
            <a:pPr algn="ctr" indent="0" marL="0">
              <a:lnSpc>
                <a:spcPts val="2800"/>
              </a:lnSpc>
              <a:buNone/>
            </a:pPr>
            <a:r>
              <a:rPr lang="en-US" sz="1400" b="1" dirty="0">
                <a:solidFill>
                  <a:srgbClr val="F4F8F7"/>
                </a:solidFill>
                <a:latin typeface="IBM Plex Sans Arabic" pitchFamily="34" charset="0"/>
                <a:ea typeface="IBM Plex Sans Arabic" pitchFamily="34" charset="-122"/>
                <a:cs typeface="IBM Plex Sans Arabic" pitchFamily="34" charset="-120"/>
              </a:rPr>
              <a:t>1</a:t>
            </a:r>
            <a:endParaRPr lang="en-US" sz="1400" dirty="0"/>
          </a:p>
        </p:txBody>
      </p:sp>
      <p:sp>
        <p:nvSpPr>
          <p:cNvPr id="18" name="Text 16"/>
          <p:cNvSpPr/>
          <p:nvPr/>
        </p:nvSpPr>
        <p:spPr>
          <a:xfrm>
            <a:off x="8969037" y="2465456"/>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مراجعة المدخلات</a:t>
            </a:r>
            <a:endParaRPr lang="en-US" sz="1400" dirty="0"/>
          </a:p>
        </p:txBody>
      </p:sp>
      <p:sp>
        <p:nvSpPr>
          <p:cNvPr id="19" name="Text 17"/>
          <p:cNvSpPr/>
          <p:nvPr/>
        </p:nvSpPr>
        <p:spPr>
          <a:xfrm>
            <a:off x="8969037" y="2772767"/>
            <a:ext cx="2228130"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تحديد صلاحية كل ملف قبل البدء</a:t>
            </a:r>
            <a:endParaRPr lang="en-US" sz="1200" dirty="0"/>
          </a:p>
        </p:txBody>
      </p:sp>
      <p:sp>
        <p:nvSpPr>
          <p:cNvPr id="20" name="Shape 18"/>
          <p:cNvSpPr/>
          <p:nvPr/>
        </p:nvSpPr>
        <p:spPr>
          <a:xfrm>
            <a:off x="815975" y="3331304"/>
            <a:ext cx="2520950" cy="1538684"/>
          </a:xfrm>
          <a:prstGeom prst="roundRect">
            <a:avLst>
              <a:gd name="adj" fmla="val 6397"/>
            </a:avLst>
          </a:prstGeom>
          <a:solidFill>
            <a:srgbClr val="FDFCF9"/>
          </a:solidFill>
          <a:ln w="6350">
            <a:solidFill>
              <a:srgbClr val="E2E4DE"/>
            </a:solidFill>
            <a:prstDash val="solid"/>
          </a:ln>
        </p:spPr>
      </p:sp>
      <p:sp>
        <p:nvSpPr>
          <p:cNvPr id="21" name="Text 19"/>
          <p:cNvSpPr/>
          <p:nvPr/>
        </p:nvSpPr>
        <p:spPr>
          <a:xfrm>
            <a:off x="2802467" y="35101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F5C63"/>
          </a:solidFill>
          <a:ln/>
        </p:spPr>
        <p:txBody>
          <a:bodyPr wrap="square" lIns="0" tIns="0" rIns="0" bIns="0" rtlCol="0" anchor="t">
            <a:normAutofit/>
          </a:bodyPr>
          <a:lstStyle/>
          <a:p>
            <a:pPr algn="ctr" indent="0" marL="0">
              <a:lnSpc>
                <a:spcPts val="2800"/>
              </a:lnSpc>
              <a:buNone/>
            </a:pPr>
            <a:r>
              <a:rPr lang="en-US" sz="1400" b="1" dirty="0">
                <a:solidFill>
                  <a:srgbClr val="F4F8F7"/>
                </a:solidFill>
                <a:latin typeface="IBM Plex Sans Arabic" pitchFamily="34" charset="0"/>
                <a:ea typeface="IBM Plex Sans Arabic" pitchFamily="34" charset="-122"/>
                <a:cs typeface="IBM Plex Sans Arabic" pitchFamily="34" charset="-120"/>
              </a:rPr>
              <a:t>8</a:t>
            </a:r>
            <a:endParaRPr lang="en-US" sz="1400" dirty="0"/>
          </a:p>
        </p:txBody>
      </p:sp>
      <p:sp>
        <p:nvSpPr>
          <p:cNvPr id="22" name="Text 20"/>
          <p:cNvSpPr/>
          <p:nvPr/>
        </p:nvSpPr>
        <p:spPr>
          <a:xfrm>
            <a:off x="929936" y="3941961"/>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الملفات المساندة</a:t>
            </a:r>
            <a:endParaRPr lang="en-US" sz="1400" dirty="0"/>
          </a:p>
        </p:txBody>
      </p:sp>
      <p:sp>
        <p:nvSpPr>
          <p:cNvPr id="23" name="Text 21"/>
          <p:cNvSpPr/>
          <p:nvPr/>
        </p:nvSpPr>
        <p:spPr>
          <a:xfrm>
            <a:off x="929936" y="4249279"/>
            <a:ext cx="2228130" cy="467254"/>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الصلاحيات والحقول والمخطط وتجربة الخدمة</a:t>
            </a:r>
            <a:endParaRPr lang="en-US" sz="1200" dirty="0"/>
          </a:p>
        </p:txBody>
      </p:sp>
      <p:sp>
        <p:nvSpPr>
          <p:cNvPr id="24" name="Shape 22"/>
          <p:cNvSpPr/>
          <p:nvPr/>
        </p:nvSpPr>
        <p:spPr>
          <a:xfrm>
            <a:off x="3495675" y="3331304"/>
            <a:ext cx="2520950" cy="1538684"/>
          </a:xfrm>
          <a:prstGeom prst="roundRect">
            <a:avLst>
              <a:gd name="adj" fmla="val 6397"/>
            </a:avLst>
          </a:prstGeom>
          <a:solidFill>
            <a:srgbClr val="FDFCF9"/>
          </a:solidFill>
          <a:ln w="6350">
            <a:solidFill>
              <a:srgbClr val="E2E4DE"/>
            </a:solidFill>
            <a:prstDash val="solid"/>
          </a:ln>
        </p:spPr>
      </p:sp>
      <p:sp>
        <p:nvSpPr>
          <p:cNvPr id="25" name="Text 23"/>
          <p:cNvSpPr/>
          <p:nvPr/>
        </p:nvSpPr>
        <p:spPr>
          <a:xfrm>
            <a:off x="5482167" y="35101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F5C63"/>
          </a:solidFill>
          <a:ln/>
        </p:spPr>
        <p:txBody>
          <a:bodyPr wrap="square" lIns="0" tIns="0" rIns="0" bIns="0" rtlCol="0" anchor="t">
            <a:normAutofit/>
          </a:bodyPr>
          <a:lstStyle/>
          <a:p>
            <a:pPr algn="ctr" indent="0" marL="0">
              <a:lnSpc>
                <a:spcPts val="2800"/>
              </a:lnSpc>
              <a:buNone/>
            </a:pPr>
            <a:r>
              <a:rPr lang="en-US" sz="1400" b="1" dirty="0">
                <a:solidFill>
                  <a:srgbClr val="F4F8F7"/>
                </a:solidFill>
                <a:latin typeface="IBM Plex Sans Arabic" pitchFamily="34" charset="0"/>
                <a:ea typeface="IBM Plex Sans Arabic" pitchFamily="34" charset="-122"/>
                <a:cs typeface="IBM Plex Sans Arabic" pitchFamily="34" charset="-120"/>
              </a:rPr>
              <a:t>7</a:t>
            </a:r>
            <a:endParaRPr lang="en-US" sz="1400" dirty="0"/>
          </a:p>
        </p:txBody>
      </p:sp>
      <p:sp>
        <p:nvSpPr>
          <p:cNvPr id="26" name="Text 24"/>
          <p:cNvSpPr/>
          <p:nvPr/>
        </p:nvSpPr>
        <p:spPr>
          <a:xfrm>
            <a:off x="3609636" y="3941961"/>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مراجعة الاتساق</a:t>
            </a:r>
            <a:endParaRPr lang="en-US" sz="1400" dirty="0"/>
          </a:p>
        </p:txBody>
      </p:sp>
      <p:sp>
        <p:nvSpPr>
          <p:cNvPr id="27" name="Text 25"/>
          <p:cNvSpPr/>
          <p:nvPr/>
        </p:nvSpPr>
        <p:spPr>
          <a:xfrm>
            <a:off x="3609636" y="4249279"/>
            <a:ext cx="2228130"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تتبع آلي وفحص بصري لكل ملف</a:t>
            </a:r>
            <a:endParaRPr lang="en-US" sz="1200" dirty="0"/>
          </a:p>
        </p:txBody>
      </p:sp>
      <p:sp>
        <p:nvSpPr>
          <p:cNvPr id="28" name="Shape 26"/>
          <p:cNvSpPr/>
          <p:nvPr/>
        </p:nvSpPr>
        <p:spPr>
          <a:xfrm>
            <a:off x="6175375" y="3331304"/>
            <a:ext cx="2520950" cy="1538684"/>
          </a:xfrm>
          <a:prstGeom prst="roundRect">
            <a:avLst>
              <a:gd name="adj" fmla="val 6397"/>
            </a:avLst>
          </a:prstGeom>
          <a:solidFill>
            <a:srgbClr val="FDFCF9"/>
          </a:solidFill>
          <a:ln w="6350">
            <a:solidFill>
              <a:srgbClr val="E2E4DE"/>
            </a:solidFill>
            <a:prstDash val="solid"/>
          </a:ln>
        </p:spPr>
      </p:sp>
      <p:sp>
        <p:nvSpPr>
          <p:cNvPr id="29" name="Text 27"/>
          <p:cNvSpPr/>
          <p:nvPr/>
        </p:nvSpPr>
        <p:spPr>
          <a:xfrm>
            <a:off x="8161867" y="35101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0F5C63"/>
          </a:solidFill>
          <a:ln/>
        </p:spPr>
        <p:txBody>
          <a:bodyPr wrap="square" lIns="0" tIns="0" rIns="0" bIns="0" rtlCol="0" anchor="t">
            <a:normAutofit/>
          </a:bodyPr>
          <a:lstStyle/>
          <a:p>
            <a:pPr algn="ctr" indent="0" marL="0">
              <a:lnSpc>
                <a:spcPts val="2800"/>
              </a:lnSpc>
              <a:buNone/>
            </a:pPr>
            <a:r>
              <a:rPr lang="en-US" sz="1400" b="1" dirty="0">
                <a:solidFill>
                  <a:srgbClr val="F4F8F7"/>
                </a:solidFill>
                <a:latin typeface="IBM Plex Sans Arabic" pitchFamily="34" charset="0"/>
                <a:ea typeface="IBM Plex Sans Arabic" pitchFamily="34" charset="-122"/>
                <a:cs typeface="IBM Plex Sans Arabic" pitchFamily="34" charset="-120"/>
              </a:rPr>
              <a:t>6</a:t>
            </a:r>
            <a:endParaRPr lang="en-US" sz="1400" dirty="0"/>
          </a:p>
        </p:txBody>
      </p:sp>
      <p:sp>
        <p:nvSpPr>
          <p:cNvPr id="30" name="Text 28"/>
          <p:cNvSpPr/>
          <p:nvPr/>
        </p:nvSpPr>
        <p:spPr>
          <a:xfrm>
            <a:off x="6289336" y="3941961"/>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الإخراج على القالب</a:t>
            </a:r>
            <a:endParaRPr lang="en-US" sz="1400" dirty="0"/>
          </a:p>
        </p:txBody>
      </p:sp>
      <p:sp>
        <p:nvSpPr>
          <p:cNvPr id="31" name="Text 29"/>
          <p:cNvSpPr/>
          <p:nvPr/>
        </p:nvSpPr>
        <p:spPr>
          <a:xfrm>
            <a:off x="6289336" y="4249279"/>
            <a:ext cx="2228130"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‫وثيقة Word بترتيب القالب المعتمد‬</a:t>
            </a:r>
            <a:endParaRPr lang="en-US" sz="1200" dirty="0"/>
          </a:p>
        </p:txBody>
      </p:sp>
      <p:sp>
        <p:nvSpPr>
          <p:cNvPr id="32" name="Shape 30"/>
          <p:cNvSpPr/>
          <p:nvPr/>
        </p:nvSpPr>
        <p:spPr>
          <a:xfrm>
            <a:off x="8855075" y="3331304"/>
            <a:ext cx="2520950" cy="1538684"/>
          </a:xfrm>
          <a:prstGeom prst="roundRect">
            <a:avLst>
              <a:gd name="adj" fmla="val 6397"/>
            </a:avLst>
          </a:prstGeom>
          <a:solidFill>
            <a:srgbClr val="FDFCF9"/>
          </a:solidFill>
          <a:ln w="6350">
            <a:solidFill>
              <a:srgbClr val="E2E4DE"/>
            </a:solidFill>
            <a:prstDash val="solid"/>
          </a:ln>
        </p:spPr>
      </p:sp>
      <p:sp>
        <p:nvSpPr>
          <p:cNvPr id="33" name="Text 31"/>
          <p:cNvSpPr/>
          <p:nvPr/>
        </p:nvSpPr>
        <p:spPr>
          <a:xfrm>
            <a:off x="10841567" y="35101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0A35A"/>
          </a:solidFill>
          <a:ln/>
        </p:spPr>
        <p:txBody>
          <a:bodyPr wrap="square" lIns="0" tIns="0" rIns="0" bIns="0" rtlCol="0" anchor="t">
            <a:normAutofit/>
          </a:bodyPr>
          <a:lstStyle/>
          <a:p>
            <a:pPr algn="ctr" indent="0" marL="0">
              <a:lnSpc>
                <a:spcPts val="2800"/>
              </a:lnSpc>
              <a:buNone/>
            </a:pPr>
            <a:r>
              <a:rPr lang="en-US" sz="1400" b="1" dirty="0">
                <a:solidFill>
                  <a:srgbClr val="3B2205"/>
                </a:solidFill>
                <a:latin typeface="IBM Plex Sans Arabic" pitchFamily="34" charset="0"/>
                <a:ea typeface="IBM Plex Sans Arabic" pitchFamily="34" charset="-122"/>
                <a:cs typeface="IBM Plex Sans Arabic" pitchFamily="34" charset="-120"/>
              </a:rPr>
              <a:t>5</a:t>
            </a:r>
            <a:endParaRPr lang="en-US" sz="1400" dirty="0"/>
          </a:p>
        </p:txBody>
      </p:sp>
      <p:sp>
        <p:nvSpPr>
          <p:cNvPr id="34" name="Text 32"/>
          <p:cNvSpPr/>
          <p:nvPr/>
        </p:nvSpPr>
        <p:spPr>
          <a:xfrm>
            <a:off x="8969037" y="3941961"/>
            <a:ext cx="2228130"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تمييز غير المحسوم</a:t>
            </a:r>
            <a:endParaRPr lang="en-US" sz="1400" dirty="0"/>
          </a:p>
        </p:txBody>
      </p:sp>
      <p:sp>
        <p:nvSpPr>
          <p:cNvPr id="35" name="Text 33"/>
          <p:cNvSpPr/>
          <p:nvPr/>
        </p:nvSpPr>
        <p:spPr>
          <a:xfrm>
            <a:off x="8969037" y="4249279"/>
            <a:ext cx="2228130"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عبارة «بانتظار قرار» داخل الوثيقة</a:t>
            </a:r>
            <a:endParaRPr lang="en-US" sz="1200" dirty="0"/>
          </a:p>
        </p:txBody>
      </p:sp>
      <p:sp>
        <p:nvSpPr>
          <p:cNvPr id="36" name="Text 34"/>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495808" y="812800"/>
            <a:ext cx="10883392" cy="355600"/>
          </a:xfrm>
          <a:prstGeom prst="rect">
            <a:avLst/>
          </a:prstGeom>
          <a:noFill/>
          <a:ln/>
        </p:spPr>
        <p:txBody>
          <a:bodyPr wrap="square" lIns="0" tIns="0" rIns="0" bIns="0" rtlCol="0" anchor="t">
            <a:normAutofit/>
          </a:bodyPr>
          <a:lstStyle/>
          <a:p>
            <a:pPr algn="r" indent="0" marL="0">
              <a:lnSpc>
                <a:spcPts val="2600"/>
              </a:lnSpc>
              <a:buNone/>
            </a:pPr>
            <a:r>
              <a:rPr lang="en-US" sz="2000" b="1" i="0" dirty="0">
                <a:solidFill>
                  <a:srgbClr val="12343B"/>
                </a:solidFill>
                <a:latin typeface="Noto Kufi Arabic" pitchFamily="34" charset="0"/>
                <a:ea typeface="Noto Kufi Arabic" pitchFamily="34" charset="-122"/>
                <a:cs typeface="Noto Kufi Arabic" pitchFamily="34" charset="-120"/>
              </a:rPr>
              <a:t>نموذج سير الإجراءات: من إعداد التقرير إلى متابعة توصياته</a:t>
            </a:r>
            <a:endParaRPr lang="en-US" sz="2000" dirty="0"/>
          </a:p>
        </p:txBody>
      </p:sp>
      <p:sp>
        <p:nvSpPr>
          <p:cNvPr id="3" name="Shape 1"/>
          <p:cNvSpPr/>
          <p:nvPr/>
        </p:nvSpPr>
        <p:spPr>
          <a:xfrm>
            <a:off x="1552575" y="1270000"/>
            <a:ext cx="9086850" cy="5181600"/>
          </a:xfrm>
          <a:prstGeom prst="roundRect">
            <a:avLst>
              <a:gd name="adj" fmla="val 1471"/>
            </a:avLst>
          </a:prstGeom>
          <a:solidFill>
            <a:srgbClr val="FFFFFF"/>
          </a:solidFill>
          <a:ln/>
        </p:spPr>
      </p:sp>
      <p:pic>
        <p:nvPicPr>
          <p:cNvPr id="4" name="Image 0" descr="مخطط مسارات لسير العمل: فريق المراجعة يعدّ التقرير ويرفعه، ثم يعتمده رئيس الوحدة فرئيس القسم فمدير الإدارة، مع إمكانية الإعادة للمستوى السابق، ثم يُصدر للجهة المعنية وتتابع وحدة المتابعة التوصيات">    </p:cNvPr>
          <p:cNvPicPr>
            <a:picLocks noChangeAspect="1"/>
          </p:cNvPicPr>
          <p:nvPr/>
        </p:nvPicPr>
        <p:blipFill>
          <a:blip r:embed="rId1"/>
          <a:srcRect l="-33" r="-33" t="0" b="0"/>
          <a:stretch/>
        </p:blipFill>
        <p:spPr>
          <a:xfrm>
            <a:off x="1558925" y="1276350"/>
            <a:ext cx="9074150" cy="5168900"/>
          </a:xfrm>
          <a:prstGeom prst="roundRect">
            <a:avLst>
              <a:gd name="adj" fmla="val 1351"/>
            </a:avLst>
          </a:prstGeom>
        </p:spPr>
      </p:pic>
      <p:sp>
        <p:nvSpPr>
          <p:cNvPr id="5" name="Shape 2"/>
          <p:cNvSpPr/>
          <p:nvPr/>
        </p:nvSpPr>
        <p:spPr>
          <a:xfrm>
            <a:off x="1555750" y="1273175"/>
            <a:ext cx="9080500" cy="5175250"/>
          </a:xfrm>
          <a:prstGeom prst="roundRect">
            <a:avLst>
              <a:gd name="adj" fmla="val 1411"/>
            </a:avLst>
          </a:prstGeom>
          <a:noFill/>
          <a:ln w="6350">
            <a:solidFill>
              <a:srgbClr val="E2E4DE"/>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التطبيق: نظام المراجعة الداخلية</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بنية خاصية المستخدم في الوثيقة</a:t>
            </a:r>
            <a:endParaRPr lang="en-US" sz="3000" dirty="0"/>
          </a:p>
        </p:txBody>
      </p:sp>
      <p:sp>
        <p:nvSpPr>
          <p:cNvPr id="4" name="Shape 2"/>
          <p:cNvSpPr/>
          <p:nvPr/>
        </p:nvSpPr>
        <p:spPr>
          <a:xfrm>
            <a:off x="812800" y="1851620"/>
            <a:ext cx="4826000" cy="3987800"/>
          </a:xfrm>
          <a:prstGeom prst="roundRect">
            <a:avLst>
              <a:gd name="adj" fmla="val 1911"/>
            </a:avLst>
          </a:prstGeom>
          <a:solidFill>
            <a:srgbClr val="FFFFFF"/>
          </a:solidFill>
          <a:ln/>
        </p:spPr>
      </p:sp>
      <p:pic>
        <p:nvPicPr>
          <p:cNvPr id="5" name="Image 0" descr="صفحة من وثيقة متطلبات العمل تعرض خاصية المستخدم 1.2: العمل الجماعي على تقرير المراجعة">    </p:cNvPr>
          <p:cNvPicPr>
            <a:picLocks noChangeAspect="1"/>
          </p:cNvPicPr>
          <p:nvPr/>
        </p:nvPicPr>
        <p:blipFill>
          <a:blip r:embed="rId1"/>
          <a:stretch>
            <a:fillRect/>
          </a:stretch>
        </p:blipFill>
        <p:spPr>
          <a:xfrm>
            <a:off x="863405" y="1857970"/>
            <a:ext cx="4724790" cy="3975100"/>
          </a:xfrm>
          <a:custGeom>
            <a:avLst/>
            <a:gdLst/>
            <a:ahLst/>
            <a:cxnLst/>
            <a:rect l="l" t="t" r="r" b="b"/>
            <a:pathLst>
              <a:path w="4724790" h="3975100">
                <a:moveTo>
                  <a:pt x="0" y="4858"/>
                </a:moveTo>
                <a:arcTo wR="69850" hR="69850" stAng="14910273" swAng="1289727"/>
                <a:lnTo>
                  <a:pt x="4699195" y="0"/>
                </a:lnTo>
                <a:arcTo wR="69850" hR="69850" stAng="16200000" swAng="1289727"/>
                <a:lnTo>
                  <a:pt x="4724790" y="3970242"/>
                </a:lnTo>
                <a:arcTo wR="69850" hR="69850" stAng="4110273" swAng="1289727"/>
                <a:lnTo>
                  <a:pt x="25595" y="3975100"/>
                </a:lnTo>
                <a:arcTo wR="69850" hR="69850" stAng="5400000" swAng="1289727"/>
                <a:close/>
              </a:path>
            </a:pathLst>
          </a:custGeom>
        </p:spPr>
      </p:pic>
      <p:sp>
        <p:nvSpPr>
          <p:cNvPr id="6" name="Shape 3"/>
          <p:cNvSpPr/>
          <p:nvPr/>
        </p:nvSpPr>
        <p:spPr>
          <a:xfrm>
            <a:off x="815975" y="1854795"/>
            <a:ext cx="4819650" cy="3981450"/>
          </a:xfrm>
          <a:prstGeom prst="roundRect">
            <a:avLst>
              <a:gd name="adj" fmla="val 1834"/>
            </a:avLst>
          </a:prstGeom>
          <a:noFill/>
          <a:ln w="6350">
            <a:solidFill>
              <a:srgbClr val="E2E4DE"/>
            </a:solidFill>
            <a:prstDash val="solid"/>
          </a:ln>
        </p:spPr>
      </p:sp>
      <p:sp>
        <p:nvSpPr>
          <p:cNvPr id="7" name="Text 4"/>
          <p:cNvSpPr/>
          <p:nvPr/>
        </p:nvSpPr>
        <p:spPr>
          <a:xfrm>
            <a:off x="5791962" y="1851620"/>
            <a:ext cx="520623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«أنا كمستخدم…»</a:t>
            </a:r>
            <a:endParaRPr lang="en-US" sz="1400" dirty="0"/>
          </a:p>
        </p:txBody>
      </p:sp>
      <p:sp>
        <p:nvSpPr>
          <p:cNvPr id="8" name="Text 5"/>
          <p:cNvSpPr/>
          <p:nvPr/>
        </p:nvSpPr>
        <p:spPr>
          <a:xfrm>
            <a:off x="5791962" y="2095438"/>
            <a:ext cx="5206238"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قصة المستخدم بالدور والإجراء المطلوب</a:t>
            </a:r>
            <a:endParaRPr lang="en-US" sz="1200" dirty="0"/>
          </a:p>
        </p:txBody>
      </p:sp>
      <p:sp>
        <p:nvSpPr>
          <p:cNvPr id="9" name="Text 6"/>
          <p:cNvSpPr/>
          <p:nvPr/>
        </p:nvSpPr>
        <p:spPr>
          <a:xfrm>
            <a:off x="11099800" y="1851620"/>
            <a:ext cx="279400" cy="238720"/>
          </a:xfrm>
          <a:custGeom>
            <a:avLst/>
            <a:gdLst/>
            <a:ahLst/>
            <a:cxnLst/>
            <a:rect l="l" t="t" r="r" b="b"/>
            <a:pathLst>
              <a:path w="279400" h="238720">
                <a:moveTo>
                  <a:pt x="63500" y="0"/>
                </a:moveTo>
                <a:lnTo>
                  <a:pt x="215900" y="0"/>
                </a:lnTo>
                <a:arcTo hR="63500" wR="63500" stAng="16200000" swAng="5400000"/>
                <a:lnTo>
                  <a:pt x="2794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1</a:t>
            </a:r>
            <a:endParaRPr lang="en-US" sz="1200" dirty="0"/>
          </a:p>
        </p:txBody>
      </p:sp>
      <p:sp>
        <p:nvSpPr>
          <p:cNvPr id="10" name="Text 7"/>
          <p:cNvSpPr/>
          <p:nvPr/>
        </p:nvSpPr>
        <p:spPr>
          <a:xfrm>
            <a:off x="5791962" y="2430661"/>
            <a:ext cx="520623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الوصف والمرجع</a:t>
            </a:r>
            <a:endParaRPr lang="en-US" sz="1400" dirty="0"/>
          </a:p>
        </p:txBody>
      </p:sp>
      <p:sp>
        <p:nvSpPr>
          <p:cNvPr id="11" name="Text 8"/>
          <p:cNvSpPr/>
          <p:nvPr/>
        </p:nvSpPr>
        <p:spPr>
          <a:xfrm>
            <a:off x="5791962" y="2674479"/>
            <a:ext cx="5206238"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شرح الخاصية والبند الذي تستند إليه في المصدر</a:t>
            </a:r>
            <a:endParaRPr lang="en-US" sz="1200" dirty="0"/>
          </a:p>
        </p:txBody>
      </p:sp>
      <p:sp>
        <p:nvSpPr>
          <p:cNvPr id="12" name="Text 9"/>
          <p:cNvSpPr/>
          <p:nvPr/>
        </p:nvSpPr>
        <p:spPr>
          <a:xfrm>
            <a:off x="11099800" y="2430661"/>
            <a:ext cx="279400" cy="238720"/>
          </a:xfrm>
          <a:custGeom>
            <a:avLst/>
            <a:gdLst/>
            <a:ahLst/>
            <a:cxnLst/>
            <a:rect l="l" t="t" r="r" b="b"/>
            <a:pathLst>
              <a:path w="279400" h="238720">
                <a:moveTo>
                  <a:pt x="63500" y="0"/>
                </a:moveTo>
                <a:lnTo>
                  <a:pt x="215900" y="0"/>
                </a:lnTo>
                <a:arcTo hR="63500" wR="63500" stAng="16200000" swAng="5400000"/>
                <a:lnTo>
                  <a:pt x="2794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2</a:t>
            </a:r>
            <a:endParaRPr lang="en-US" sz="1200" dirty="0"/>
          </a:p>
        </p:txBody>
      </p:sp>
      <p:sp>
        <p:nvSpPr>
          <p:cNvPr id="13" name="Text 10"/>
          <p:cNvSpPr/>
          <p:nvPr/>
        </p:nvSpPr>
        <p:spPr>
          <a:xfrm>
            <a:off x="5791962" y="3009702"/>
            <a:ext cx="520623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A65A0E"/>
                </a:solidFill>
                <a:latin typeface="IBM Plex Sans Arabic" pitchFamily="34" charset="0"/>
                <a:ea typeface="IBM Plex Sans Arabic" pitchFamily="34" charset="-122"/>
                <a:cs typeface="IBM Plex Sans Arabic" pitchFamily="34" charset="-120"/>
              </a:rPr>
              <a:t>بانتظار قرار</a:t>
            </a:r>
            <a:endParaRPr lang="en-US" sz="1400" dirty="0"/>
          </a:p>
        </p:txBody>
      </p:sp>
      <p:sp>
        <p:nvSpPr>
          <p:cNvPr id="14" name="Text 11"/>
          <p:cNvSpPr/>
          <p:nvPr/>
        </p:nvSpPr>
        <p:spPr>
          <a:xfrm>
            <a:off x="5791962" y="3253519"/>
            <a:ext cx="5206238"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ما لم يحسمه المصدر، مفصولًا عن المؤكد</a:t>
            </a:r>
            <a:endParaRPr lang="en-US" sz="1200" dirty="0"/>
          </a:p>
        </p:txBody>
      </p:sp>
      <p:sp>
        <p:nvSpPr>
          <p:cNvPr id="15" name="Text 12"/>
          <p:cNvSpPr/>
          <p:nvPr/>
        </p:nvSpPr>
        <p:spPr>
          <a:xfrm>
            <a:off x="11099800" y="3009702"/>
            <a:ext cx="279400" cy="238720"/>
          </a:xfrm>
          <a:custGeom>
            <a:avLst/>
            <a:gdLst/>
            <a:ahLst/>
            <a:cxnLst/>
            <a:rect l="l" t="t" r="r" b="b"/>
            <a:pathLst>
              <a:path w="279400" h="238720">
                <a:moveTo>
                  <a:pt x="63500" y="0"/>
                </a:moveTo>
                <a:lnTo>
                  <a:pt x="215900" y="0"/>
                </a:lnTo>
                <a:arcTo hR="63500" wR="63500" stAng="16200000" swAng="5400000"/>
                <a:lnTo>
                  <a:pt x="279400" y="175220"/>
                </a:lnTo>
                <a:arcTo hR="63500" wR="63500" stAng="0" swAng="5400000"/>
                <a:lnTo>
                  <a:pt x="63500" y="238720"/>
                </a:lnTo>
                <a:arcTo hR="63500" wR="63500" stAng="5400000" swAng="5400000"/>
                <a:lnTo>
                  <a:pt x="0" y="63500"/>
                </a:lnTo>
                <a:arcTo hR="63500" wR="63500" stAng="10800000" swAng="5400000"/>
                <a:close/>
              </a:path>
            </a:pathLst>
          </a:custGeom>
          <a:solidFill>
            <a:srgbClr val="F8E9D7"/>
          </a:solidFill>
          <a:ln/>
        </p:spPr>
        <p:txBody>
          <a:bodyPr wrap="square" lIns="0" tIns="12700" rIns="0" bIns="0" rtlCol="0" anchor="t">
            <a:normAutofit/>
          </a:bodyPr>
          <a:lstStyle/>
          <a:p>
            <a:pPr algn="ctr" indent="0" marL="0">
              <a:lnSpc>
                <a:spcPts val="1680"/>
              </a:lnSpc>
              <a:buNone/>
            </a:pPr>
            <a:r>
              <a:rPr lang="en-US" sz="1200" b="1" dirty="0">
                <a:solidFill>
                  <a:srgbClr val="A65A0E"/>
                </a:solidFill>
                <a:latin typeface="IBM Plex Sans Arabic" pitchFamily="34" charset="0"/>
                <a:ea typeface="IBM Plex Sans Arabic" pitchFamily="34" charset="-122"/>
                <a:cs typeface="IBM Plex Sans Arabic" pitchFamily="34" charset="-120"/>
              </a:rPr>
              <a:t>3</a:t>
            </a:r>
            <a:endParaRPr lang="en-US" sz="1200" dirty="0"/>
          </a:p>
        </p:txBody>
      </p:sp>
      <p:sp>
        <p:nvSpPr>
          <p:cNvPr id="16" name="Text 13"/>
          <p:cNvSpPr/>
          <p:nvPr/>
        </p:nvSpPr>
        <p:spPr>
          <a:xfrm>
            <a:off x="5791962" y="3588742"/>
            <a:ext cx="520623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المستخدم</a:t>
            </a:r>
            <a:endParaRPr lang="en-US" sz="1400" dirty="0"/>
          </a:p>
        </p:txBody>
      </p:sp>
      <p:sp>
        <p:nvSpPr>
          <p:cNvPr id="17" name="Text 14"/>
          <p:cNvSpPr/>
          <p:nvPr/>
        </p:nvSpPr>
        <p:spPr>
          <a:xfrm>
            <a:off x="5791962" y="3832560"/>
            <a:ext cx="5206238"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الدور أو الأدوار المخوّلة بالخاصية</a:t>
            </a:r>
            <a:endParaRPr lang="en-US" sz="1200" dirty="0"/>
          </a:p>
        </p:txBody>
      </p:sp>
      <p:sp>
        <p:nvSpPr>
          <p:cNvPr id="18" name="Text 15"/>
          <p:cNvSpPr/>
          <p:nvPr/>
        </p:nvSpPr>
        <p:spPr>
          <a:xfrm>
            <a:off x="11099800" y="3588742"/>
            <a:ext cx="279400" cy="238720"/>
          </a:xfrm>
          <a:custGeom>
            <a:avLst/>
            <a:gdLst/>
            <a:ahLst/>
            <a:cxnLst/>
            <a:rect l="l" t="t" r="r" b="b"/>
            <a:pathLst>
              <a:path w="279400" h="238720">
                <a:moveTo>
                  <a:pt x="63500" y="0"/>
                </a:moveTo>
                <a:lnTo>
                  <a:pt x="215900" y="0"/>
                </a:lnTo>
                <a:arcTo hR="63500" wR="63500" stAng="16200000" swAng="5400000"/>
                <a:lnTo>
                  <a:pt x="2794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4</a:t>
            </a:r>
            <a:endParaRPr lang="en-US" sz="1200" dirty="0"/>
          </a:p>
        </p:txBody>
      </p:sp>
      <p:sp>
        <p:nvSpPr>
          <p:cNvPr id="19" name="Text 16"/>
          <p:cNvSpPr/>
          <p:nvPr/>
        </p:nvSpPr>
        <p:spPr>
          <a:xfrm>
            <a:off x="5791962" y="4167783"/>
            <a:ext cx="520623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معايير القبول</a:t>
            </a:r>
            <a:endParaRPr lang="en-US" sz="1400" dirty="0"/>
          </a:p>
        </p:txBody>
      </p:sp>
      <p:sp>
        <p:nvSpPr>
          <p:cNvPr id="20" name="Text 17"/>
          <p:cNvSpPr/>
          <p:nvPr/>
        </p:nvSpPr>
        <p:spPr>
          <a:xfrm>
            <a:off x="5791962" y="4411600"/>
            <a:ext cx="5206238"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عبارات مرقّمة قابلة للاختبار</a:t>
            </a:r>
            <a:endParaRPr lang="en-US" sz="1200" dirty="0"/>
          </a:p>
        </p:txBody>
      </p:sp>
      <p:sp>
        <p:nvSpPr>
          <p:cNvPr id="21" name="Text 18"/>
          <p:cNvSpPr/>
          <p:nvPr/>
        </p:nvSpPr>
        <p:spPr>
          <a:xfrm>
            <a:off x="11099800" y="4167783"/>
            <a:ext cx="279400" cy="238720"/>
          </a:xfrm>
          <a:custGeom>
            <a:avLst/>
            <a:gdLst/>
            <a:ahLst/>
            <a:cxnLst/>
            <a:rect l="l" t="t" r="r" b="b"/>
            <a:pathLst>
              <a:path w="279400" h="238720">
                <a:moveTo>
                  <a:pt x="63500" y="0"/>
                </a:moveTo>
                <a:lnTo>
                  <a:pt x="215900" y="0"/>
                </a:lnTo>
                <a:arcTo hR="63500" wR="63500" stAng="16200000" swAng="5400000"/>
                <a:lnTo>
                  <a:pt x="2794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5</a:t>
            </a:r>
            <a:endParaRPr lang="en-US" sz="1200" dirty="0"/>
          </a:p>
        </p:txBody>
      </p:sp>
      <p:sp>
        <p:nvSpPr>
          <p:cNvPr id="22" name="Text 19"/>
          <p:cNvSpPr/>
          <p:nvPr/>
        </p:nvSpPr>
        <p:spPr>
          <a:xfrm>
            <a:off x="5791962" y="4746823"/>
            <a:ext cx="520623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قواعد العمل</a:t>
            </a:r>
            <a:endParaRPr lang="en-US" sz="1400" dirty="0"/>
          </a:p>
        </p:txBody>
      </p:sp>
      <p:sp>
        <p:nvSpPr>
          <p:cNvPr id="23" name="Text 20"/>
          <p:cNvSpPr/>
          <p:nvPr/>
        </p:nvSpPr>
        <p:spPr>
          <a:xfrm>
            <a:off x="5791962" y="4990641"/>
            <a:ext cx="5206238" cy="246327"/>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‫قواعد بمعرّف ثابت (BR-xx) وصياغة موحدة‬</a:t>
            </a:r>
            <a:endParaRPr lang="en-US" sz="1200" dirty="0"/>
          </a:p>
        </p:txBody>
      </p:sp>
      <p:sp>
        <p:nvSpPr>
          <p:cNvPr id="24" name="Text 21"/>
          <p:cNvSpPr/>
          <p:nvPr/>
        </p:nvSpPr>
        <p:spPr>
          <a:xfrm>
            <a:off x="11099800" y="4746823"/>
            <a:ext cx="279400" cy="238720"/>
          </a:xfrm>
          <a:custGeom>
            <a:avLst/>
            <a:gdLst/>
            <a:ahLst/>
            <a:cxnLst/>
            <a:rect l="l" t="t" r="r" b="b"/>
            <a:pathLst>
              <a:path w="279400" h="238720">
                <a:moveTo>
                  <a:pt x="63500" y="0"/>
                </a:moveTo>
                <a:lnTo>
                  <a:pt x="215900" y="0"/>
                </a:lnTo>
                <a:arcTo hR="63500" wR="63500" stAng="16200000" swAng="5400000"/>
                <a:lnTo>
                  <a:pt x="27940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square" lIns="0" tIns="12700" rIns="0" bIns="0" rtlCol="0" anchor="t">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6</a:t>
            </a:r>
            <a:endParaRPr lang="en-US" sz="1200" dirty="0"/>
          </a:p>
        </p:txBody>
      </p:sp>
      <p:sp>
        <p:nvSpPr>
          <p:cNvPr id="25" name="Text 22"/>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92E"/>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0A35A"/>
                </a:solidFill>
                <a:latin typeface="IBM Plex Sans Arabic" pitchFamily="34" charset="0"/>
                <a:ea typeface="IBM Plex Sans Arabic" pitchFamily="34" charset="-122"/>
                <a:cs typeface="IBM Plex Sans Arabic" pitchFamily="34" charset="-120"/>
              </a:rPr>
              <a:t>النتائج</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F4F8F7"/>
                </a:solidFill>
                <a:latin typeface="Noto Kufi Arabic" pitchFamily="34" charset="0"/>
                <a:ea typeface="Noto Kufi Arabic" pitchFamily="34" charset="-122"/>
                <a:cs typeface="Noto Kufi Arabic" pitchFamily="34" charset="-120"/>
              </a:rPr>
              <a:t>مخرجات وثيقة المتطلبات بالأرقام</a:t>
            </a:r>
            <a:endParaRPr lang="en-US" sz="3000" dirty="0"/>
          </a:p>
        </p:txBody>
      </p:sp>
      <p:sp>
        <p:nvSpPr>
          <p:cNvPr id="4" name="Shape 2"/>
          <p:cNvSpPr/>
          <p:nvPr/>
        </p:nvSpPr>
        <p:spPr>
          <a:xfrm>
            <a:off x="812800" y="1851620"/>
            <a:ext cx="3420533" cy="1376627"/>
          </a:xfrm>
          <a:prstGeom prst="roundRect">
            <a:avLst>
              <a:gd name="adj" fmla="val 7380"/>
            </a:avLst>
          </a:prstGeom>
          <a:solidFill>
            <a:srgbClr val="173A40"/>
          </a:solidFill>
          <a:ln/>
        </p:spPr>
      </p:sp>
      <p:sp>
        <p:nvSpPr>
          <p:cNvPr id="5" name="Text 3"/>
          <p:cNvSpPr/>
          <p:nvPr/>
        </p:nvSpPr>
        <p:spPr>
          <a:xfrm>
            <a:off x="2713382" y="2054820"/>
            <a:ext cx="1316752" cy="695920"/>
          </a:xfrm>
          <a:prstGeom prst="rect">
            <a:avLst/>
          </a:prstGeom>
          <a:noFill/>
          <a:ln/>
        </p:spPr>
        <p:txBody>
          <a:bodyPr wrap="square" lIns="0" tIns="0" rIns="0" bIns="0" rtlCol="0" anchor="t">
            <a:normAutofit/>
          </a:bodyPr>
          <a:lstStyle/>
          <a:p>
            <a:pPr algn="r" indent="0" marL="0">
              <a:lnSpc>
                <a:spcPts val="5280"/>
              </a:lnSpc>
              <a:buNone/>
            </a:pPr>
            <a:r>
              <a:rPr lang="en-US" sz="4800" b="1" dirty="0">
                <a:solidFill>
                  <a:srgbClr val="F0A35A"/>
                </a:solidFill>
                <a:latin typeface="IBM Plex Sans Arabic" pitchFamily="34" charset="0"/>
                <a:ea typeface="IBM Plex Sans Arabic" pitchFamily="34" charset="-122"/>
                <a:cs typeface="IBM Plex Sans Arabic" pitchFamily="34" charset="-120"/>
              </a:rPr>
              <a:t>116</a:t>
            </a:r>
            <a:endParaRPr lang="en-US" sz="4800" dirty="0"/>
          </a:p>
        </p:txBody>
      </p:sp>
      <p:sp>
        <p:nvSpPr>
          <p:cNvPr id="6" name="Text 4"/>
          <p:cNvSpPr/>
          <p:nvPr/>
        </p:nvSpPr>
        <p:spPr>
          <a:xfrm>
            <a:off x="2178553" y="2776141"/>
            <a:ext cx="185158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EDB"/>
                </a:solidFill>
                <a:latin typeface="IBM Plex Sans Arabic" pitchFamily="34" charset="0"/>
                <a:ea typeface="IBM Plex Sans Arabic" pitchFamily="34" charset="-122"/>
                <a:cs typeface="IBM Plex Sans Arabic" pitchFamily="34" charset="-120"/>
              </a:rPr>
              <a:t>معيار قبول قابل للاختبار</a:t>
            </a:r>
            <a:endParaRPr lang="en-US" sz="1400" dirty="0"/>
          </a:p>
        </p:txBody>
      </p:sp>
      <p:sp>
        <p:nvSpPr>
          <p:cNvPr id="7" name="Shape 5"/>
          <p:cNvSpPr/>
          <p:nvPr/>
        </p:nvSpPr>
        <p:spPr>
          <a:xfrm>
            <a:off x="4385733" y="1851620"/>
            <a:ext cx="3420533" cy="1376627"/>
          </a:xfrm>
          <a:prstGeom prst="roundRect">
            <a:avLst>
              <a:gd name="adj" fmla="val 7380"/>
            </a:avLst>
          </a:prstGeom>
          <a:solidFill>
            <a:srgbClr val="173A40"/>
          </a:solidFill>
          <a:ln/>
        </p:spPr>
      </p:sp>
      <p:sp>
        <p:nvSpPr>
          <p:cNvPr id="8" name="Text 6"/>
          <p:cNvSpPr/>
          <p:nvPr/>
        </p:nvSpPr>
        <p:spPr>
          <a:xfrm>
            <a:off x="6725179" y="2054820"/>
            <a:ext cx="877888" cy="695920"/>
          </a:xfrm>
          <a:prstGeom prst="rect">
            <a:avLst/>
          </a:prstGeom>
          <a:noFill/>
          <a:ln/>
        </p:spPr>
        <p:txBody>
          <a:bodyPr wrap="square" lIns="0" tIns="0" rIns="0" bIns="0" rtlCol="0" anchor="t">
            <a:normAutofit/>
          </a:bodyPr>
          <a:lstStyle/>
          <a:p>
            <a:pPr algn="r" indent="0" marL="0">
              <a:lnSpc>
                <a:spcPts val="5280"/>
              </a:lnSpc>
              <a:buNone/>
            </a:pPr>
            <a:r>
              <a:rPr lang="en-US" sz="4800" b="1" dirty="0">
                <a:solidFill>
                  <a:srgbClr val="F0A35A"/>
                </a:solidFill>
                <a:latin typeface="IBM Plex Sans Arabic" pitchFamily="34" charset="0"/>
                <a:ea typeface="IBM Plex Sans Arabic" pitchFamily="34" charset="-122"/>
                <a:cs typeface="IBM Plex Sans Arabic" pitchFamily="34" charset="-120"/>
              </a:rPr>
              <a:t>30</a:t>
            </a:r>
            <a:endParaRPr lang="en-US" sz="4800" dirty="0"/>
          </a:p>
        </p:txBody>
      </p:sp>
      <p:sp>
        <p:nvSpPr>
          <p:cNvPr id="9" name="Text 7"/>
          <p:cNvSpPr/>
          <p:nvPr/>
        </p:nvSpPr>
        <p:spPr>
          <a:xfrm>
            <a:off x="5065686" y="2776141"/>
            <a:ext cx="253738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EDB"/>
                </a:solidFill>
                <a:latin typeface="IBM Plex Sans Arabic" pitchFamily="34" charset="0"/>
                <a:ea typeface="IBM Plex Sans Arabic" pitchFamily="34" charset="-122"/>
                <a:cs typeface="IBM Plex Sans Arabic" pitchFamily="34" charset="-120"/>
              </a:rPr>
              <a:t>خاصية مستخدم في 7 مجموعات</a:t>
            </a:r>
            <a:endParaRPr lang="en-US" sz="1400" dirty="0"/>
          </a:p>
        </p:txBody>
      </p:sp>
      <p:sp>
        <p:nvSpPr>
          <p:cNvPr id="10" name="Shape 8"/>
          <p:cNvSpPr/>
          <p:nvPr/>
        </p:nvSpPr>
        <p:spPr>
          <a:xfrm>
            <a:off x="7958667" y="1851620"/>
            <a:ext cx="3420533" cy="1376627"/>
          </a:xfrm>
          <a:prstGeom prst="roundRect">
            <a:avLst>
              <a:gd name="adj" fmla="val 7380"/>
            </a:avLst>
          </a:prstGeom>
          <a:solidFill>
            <a:srgbClr val="173A40"/>
          </a:solidFill>
          <a:ln/>
        </p:spPr>
      </p:sp>
      <p:sp>
        <p:nvSpPr>
          <p:cNvPr id="11" name="Text 9"/>
          <p:cNvSpPr/>
          <p:nvPr/>
        </p:nvSpPr>
        <p:spPr>
          <a:xfrm>
            <a:off x="10298113" y="2054820"/>
            <a:ext cx="877888" cy="695920"/>
          </a:xfrm>
          <a:prstGeom prst="rect">
            <a:avLst/>
          </a:prstGeom>
          <a:noFill/>
          <a:ln/>
        </p:spPr>
        <p:txBody>
          <a:bodyPr wrap="square" lIns="0" tIns="0" rIns="0" bIns="0" rtlCol="0" anchor="t">
            <a:normAutofit/>
          </a:bodyPr>
          <a:lstStyle/>
          <a:p>
            <a:pPr algn="r" indent="0" marL="0">
              <a:lnSpc>
                <a:spcPts val="5280"/>
              </a:lnSpc>
              <a:buNone/>
            </a:pPr>
            <a:r>
              <a:rPr lang="en-US" sz="4800" b="1" dirty="0">
                <a:solidFill>
                  <a:srgbClr val="F0A35A"/>
                </a:solidFill>
                <a:latin typeface="IBM Plex Sans Arabic" pitchFamily="34" charset="0"/>
                <a:ea typeface="IBM Plex Sans Arabic" pitchFamily="34" charset="-122"/>
                <a:cs typeface="IBM Plex Sans Arabic" pitchFamily="34" charset="-120"/>
              </a:rPr>
              <a:t>27</a:t>
            </a:r>
            <a:endParaRPr lang="en-US" sz="4800" dirty="0"/>
          </a:p>
        </p:txBody>
      </p:sp>
      <p:sp>
        <p:nvSpPr>
          <p:cNvPr id="12" name="Text 10"/>
          <p:cNvSpPr/>
          <p:nvPr/>
        </p:nvSpPr>
        <p:spPr>
          <a:xfrm>
            <a:off x="9069229" y="2776141"/>
            <a:ext cx="210677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EDB"/>
                </a:solidFill>
                <a:latin typeface="IBM Plex Sans Arabic" pitchFamily="34" charset="0"/>
                <a:ea typeface="IBM Plex Sans Arabic" pitchFamily="34" charset="-122"/>
                <a:cs typeface="IBM Plex Sans Arabic" pitchFamily="34" charset="-120"/>
              </a:rPr>
              <a:t>صفحة على القالب المعتمد</a:t>
            </a:r>
            <a:endParaRPr lang="en-US" sz="1400" dirty="0"/>
          </a:p>
        </p:txBody>
      </p:sp>
      <p:sp>
        <p:nvSpPr>
          <p:cNvPr id="13" name="Shape 11"/>
          <p:cNvSpPr/>
          <p:nvPr/>
        </p:nvSpPr>
        <p:spPr>
          <a:xfrm>
            <a:off x="812800" y="3380649"/>
            <a:ext cx="3420533" cy="1376627"/>
          </a:xfrm>
          <a:prstGeom prst="roundRect">
            <a:avLst>
              <a:gd name="adj" fmla="val 7380"/>
            </a:avLst>
          </a:prstGeom>
          <a:solidFill>
            <a:srgbClr val="173A40"/>
          </a:solidFill>
          <a:ln/>
        </p:spPr>
      </p:sp>
      <p:sp>
        <p:nvSpPr>
          <p:cNvPr id="14" name="Text 12"/>
          <p:cNvSpPr/>
          <p:nvPr/>
        </p:nvSpPr>
        <p:spPr>
          <a:xfrm>
            <a:off x="3152246" y="3583849"/>
            <a:ext cx="877888" cy="695920"/>
          </a:xfrm>
          <a:prstGeom prst="rect">
            <a:avLst/>
          </a:prstGeom>
          <a:noFill/>
          <a:ln/>
        </p:spPr>
        <p:txBody>
          <a:bodyPr wrap="square" lIns="0" tIns="0" rIns="0" bIns="0" rtlCol="0" anchor="t">
            <a:normAutofit/>
          </a:bodyPr>
          <a:lstStyle/>
          <a:p>
            <a:pPr algn="r" indent="0" marL="0">
              <a:lnSpc>
                <a:spcPts val="5280"/>
              </a:lnSpc>
              <a:buNone/>
            </a:pPr>
            <a:r>
              <a:rPr lang="en-US" sz="4800" b="1" dirty="0">
                <a:solidFill>
                  <a:srgbClr val="F0A35A"/>
                </a:solidFill>
                <a:latin typeface="IBM Plex Sans Arabic" pitchFamily="34" charset="0"/>
                <a:ea typeface="IBM Plex Sans Arabic" pitchFamily="34" charset="-122"/>
                <a:cs typeface="IBM Plex Sans Arabic" pitchFamily="34" charset="-120"/>
              </a:rPr>
              <a:t>15</a:t>
            </a:r>
            <a:endParaRPr lang="en-US" sz="4800" dirty="0"/>
          </a:p>
        </p:txBody>
      </p:sp>
      <p:sp>
        <p:nvSpPr>
          <p:cNvPr id="15" name="Text 13"/>
          <p:cNvSpPr/>
          <p:nvPr/>
        </p:nvSpPr>
        <p:spPr>
          <a:xfrm>
            <a:off x="2770849" y="4305170"/>
            <a:ext cx="1259284"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EDB"/>
                </a:solidFill>
                <a:latin typeface="IBM Plex Sans Arabic" pitchFamily="34" charset="0"/>
                <a:ea typeface="IBM Plex Sans Arabic" pitchFamily="34" charset="-122"/>
                <a:cs typeface="IBM Plex Sans Arabic" pitchFamily="34" charset="-120"/>
              </a:rPr>
              <a:t>نقطة تحتاج قرارًا</a:t>
            </a:r>
            <a:endParaRPr lang="en-US" sz="1400" dirty="0"/>
          </a:p>
        </p:txBody>
      </p:sp>
      <p:sp>
        <p:nvSpPr>
          <p:cNvPr id="16" name="Shape 14"/>
          <p:cNvSpPr/>
          <p:nvPr/>
        </p:nvSpPr>
        <p:spPr>
          <a:xfrm>
            <a:off x="4385733" y="3380649"/>
            <a:ext cx="3420533" cy="1376627"/>
          </a:xfrm>
          <a:prstGeom prst="roundRect">
            <a:avLst>
              <a:gd name="adj" fmla="val 7380"/>
            </a:avLst>
          </a:prstGeom>
          <a:solidFill>
            <a:srgbClr val="173A40"/>
          </a:solidFill>
          <a:ln/>
        </p:spPr>
      </p:sp>
      <p:sp>
        <p:nvSpPr>
          <p:cNvPr id="17" name="Text 15"/>
          <p:cNvSpPr/>
          <p:nvPr/>
        </p:nvSpPr>
        <p:spPr>
          <a:xfrm>
            <a:off x="6725179" y="3583849"/>
            <a:ext cx="877888" cy="695920"/>
          </a:xfrm>
          <a:prstGeom prst="rect">
            <a:avLst/>
          </a:prstGeom>
          <a:noFill/>
          <a:ln/>
        </p:spPr>
        <p:txBody>
          <a:bodyPr wrap="square" lIns="0" tIns="0" rIns="0" bIns="0" rtlCol="0" anchor="t">
            <a:normAutofit/>
          </a:bodyPr>
          <a:lstStyle/>
          <a:p>
            <a:pPr algn="r" indent="0" marL="0">
              <a:lnSpc>
                <a:spcPts val="5280"/>
              </a:lnSpc>
              <a:buNone/>
            </a:pPr>
            <a:r>
              <a:rPr lang="en-US" sz="4800" b="1" dirty="0">
                <a:solidFill>
                  <a:srgbClr val="F0A35A"/>
                </a:solidFill>
                <a:latin typeface="IBM Plex Sans Arabic" pitchFamily="34" charset="0"/>
                <a:ea typeface="IBM Plex Sans Arabic" pitchFamily="34" charset="-122"/>
                <a:cs typeface="IBM Plex Sans Arabic" pitchFamily="34" charset="-120"/>
              </a:rPr>
              <a:t>61</a:t>
            </a:r>
            <a:endParaRPr lang="en-US" sz="4800" dirty="0"/>
          </a:p>
        </p:txBody>
      </p:sp>
      <p:sp>
        <p:nvSpPr>
          <p:cNvPr id="18" name="Text 16"/>
          <p:cNvSpPr/>
          <p:nvPr/>
        </p:nvSpPr>
        <p:spPr>
          <a:xfrm>
            <a:off x="5366359" y="4305170"/>
            <a:ext cx="2236708"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EDB"/>
                </a:solidFill>
                <a:latin typeface="IBM Plex Sans Arabic" pitchFamily="34" charset="0"/>
                <a:ea typeface="IBM Plex Sans Arabic" pitchFamily="34" charset="-122"/>
                <a:cs typeface="IBM Plex Sans Arabic" pitchFamily="34" charset="-120"/>
              </a:rPr>
              <a:t>صلاحية متتبَّعة إلى خصائصها</a:t>
            </a:r>
            <a:endParaRPr lang="en-US" sz="1400" dirty="0"/>
          </a:p>
        </p:txBody>
      </p:sp>
      <p:sp>
        <p:nvSpPr>
          <p:cNvPr id="19" name="Shape 17"/>
          <p:cNvSpPr/>
          <p:nvPr/>
        </p:nvSpPr>
        <p:spPr>
          <a:xfrm>
            <a:off x="7958667" y="3380649"/>
            <a:ext cx="3420533" cy="1376627"/>
          </a:xfrm>
          <a:prstGeom prst="roundRect">
            <a:avLst>
              <a:gd name="adj" fmla="val 7380"/>
            </a:avLst>
          </a:prstGeom>
          <a:solidFill>
            <a:srgbClr val="173A40"/>
          </a:solidFill>
          <a:ln/>
        </p:spPr>
      </p:sp>
      <p:sp>
        <p:nvSpPr>
          <p:cNvPr id="20" name="Text 18"/>
          <p:cNvSpPr/>
          <p:nvPr/>
        </p:nvSpPr>
        <p:spPr>
          <a:xfrm>
            <a:off x="10298113" y="3583849"/>
            <a:ext cx="877888" cy="695920"/>
          </a:xfrm>
          <a:prstGeom prst="rect">
            <a:avLst/>
          </a:prstGeom>
          <a:noFill/>
          <a:ln/>
        </p:spPr>
        <p:txBody>
          <a:bodyPr wrap="square" lIns="0" tIns="0" rIns="0" bIns="0" rtlCol="0" anchor="t">
            <a:normAutofit/>
          </a:bodyPr>
          <a:lstStyle/>
          <a:p>
            <a:pPr algn="r" indent="0" marL="0">
              <a:lnSpc>
                <a:spcPts val="5280"/>
              </a:lnSpc>
              <a:buNone/>
            </a:pPr>
            <a:r>
              <a:rPr lang="en-US" sz="4800" b="1" dirty="0">
                <a:solidFill>
                  <a:srgbClr val="F0A35A"/>
                </a:solidFill>
                <a:latin typeface="IBM Plex Sans Arabic" pitchFamily="34" charset="0"/>
                <a:ea typeface="IBM Plex Sans Arabic" pitchFamily="34" charset="-122"/>
                <a:cs typeface="IBM Plex Sans Arabic" pitchFamily="34" charset="-120"/>
              </a:rPr>
              <a:t>23</a:t>
            </a:r>
            <a:endParaRPr lang="en-US" sz="4800" dirty="0"/>
          </a:p>
        </p:txBody>
      </p:sp>
      <p:sp>
        <p:nvSpPr>
          <p:cNvPr id="21" name="Text 19"/>
          <p:cNvSpPr/>
          <p:nvPr/>
        </p:nvSpPr>
        <p:spPr>
          <a:xfrm>
            <a:off x="9087565" y="4305170"/>
            <a:ext cx="2088436"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EDB"/>
                </a:solidFill>
                <a:latin typeface="IBM Plex Sans Arabic" pitchFamily="34" charset="0"/>
                <a:ea typeface="IBM Plex Sans Arabic" pitchFamily="34" charset="-122"/>
                <a:cs typeface="IBM Plex Sans Arabic" pitchFamily="34" charset="-120"/>
              </a:rPr>
              <a:t>قاعدة عمل بصياغة موحدة</a:t>
            </a:r>
            <a:endParaRPr lang="en-US" sz="1400" dirty="0"/>
          </a:p>
        </p:txBody>
      </p:sp>
      <p:sp>
        <p:nvSpPr>
          <p:cNvPr id="22" name="Text 20"/>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8C5C1"/>
                </a:solidFill>
                <a:latin typeface="IBM Plex Sans Arabic" pitchFamily="34" charset="0"/>
                <a:ea typeface="IBM Plex Sans Arabic" pitchFamily="34" charset="-122"/>
                <a:cs typeface="IBM Plex Sans Arabic" pitchFamily="34" charset="-120"/>
              </a:rPr>
              <a:t>مساعد توثيق تحليل الأعمال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النتائج</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الملفات المساندة</a:t>
            </a:r>
            <a:endParaRPr lang="en-US" sz="3000" dirty="0"/>
          </a:p>
        </p:txBody>
      </p:sp>
      <p:sp>
        <p:nvSpPr>
          <p:cNvPr id="4" name="Shape 2"/>
          <p:cNvSpPr/>
          <p:nvPr/>
        </p:nvSpPr>
        <p:spPr>
          <a:xfrm>
            <a:off x="815975" y="1854795"/>
            <a:ext cx="2520950" cy="2831505"/>
          </a:xfrm>
          <a:prstGeom prst="roundRect">
            <a:avLst>
              <a:gd name="adj" fmla="val 3904"/>
            </a:avLst>
          </a:prstGeom>
          <a:solidFill>
            <a:srgbClr val="FDFCF9"/>
          </a:solidFill>
          <a:ln w="6350">
            <a:solidFill>
              <a:srgbClr val="E2E4DE"/>
            </a:solidFill>
            <a:prstDash val="solid"/>
          </a:ln>
        </p:spPr>
      </p:sp>
      <p:sp>
        <p:nvSpPr>
          <p:cNvPr id="5" name="Shape 3"/>
          <p:cNvSpPr/>
          <p:nvPr/>
        </p:nvSpPr>
        <p:spPr>
          <a:xfrm>
            <a:off x="944033" y="1982856"/>
            <a:ext cx="2273300" cy="1397000"/>
          </a:xfrm>
          <a:prstGeom prst="roundRect">
            <a:avLst>
              <a:gd name="adj" fmla="val 4545"/>
            </a:avLst>
          </a:prstGeom>
          <a:solidFill>
            <a:srgbClr val="FFFFFF"/>
          </a:solidFill>
          <a:ln/>
        </p:spPr>
      </p:sp>
      <p:pic>
        <p:nvPicPr>
          <p:cNvPr id="6" name="Image 0" descr="صفحة الخدمة في تجربة الخدمة الإلكترونية">    </p:cNvPr>
          <p:cNvPicPr>
            <a:picLocks noChangeAspect="1"/>
          </p:cNvPicPr>
          <p:nvPr/>
        </p:nvPicPr>
        <p:blipFill>
          <a:blip r:embed="rId1"/>
          <a:stretch>
            <a:fillRect/>
          </a:stretch>
        </p:blipFill>
        <p:spPr>
          <a:xfrm>
            <a:off x="1169210" y="1989206"/>
            <a:ext cx="1822947" cy="1384300"/>
          </a:xfrm>
          <a:prstGeom prst="rect">
            <a:avLst/>
          </a:prstGeom>
        </p:spPr>
      </p:pic>
      <p:sp>
        <p:nvSpPr>
          <p:cNvPr id="7" name="Shape 4"/>
          <p:cNvSpPr/>
          <p:nvPr/>
        </p:nvSpPr>
        <p:spPr>
          <a:xfrm>
            <a:off x="947208" y="1986031"/>
            <a:ext cx="2266950" cy="1390650"/>
          </a:xfrm>
          <a:prstGeom prst="roundRect">
            <a:avLst>
              <a:gd name="adj" fmla="val 4338"/>
            </a:avLst>
          </a:prstGeom>
          <a:noFill/>
          <a:ln w="6350">
            <a:solidFill>
              <a:srgbClr val="E2E4DE"/>
            </a:solidFill>
            <a:prstDash val="solid"/>
          </a:ln>
        </p:spPr>
      </p:sp>
      <p:sp>
        <p:nvSpPr>
          <p:cNvPr id="8" name="Text 5"/>
          <p:cNvSpPr/>
          <p:nvPr/>
        </p:nvSpPr>
        <p:spPr>
          <a:xfrm>
            <a:off x="2629297" y="3468756"/>
            <a:ext cx="579570" cy="238720"/>
          </a:xfrm>
          <a:custGeom>
            <a:avLst/>
            <a:gdLst/>
            <a:ahLst/>
            <a:cxnLst/>
            <a:rect l="l" t="t" r="r" b="b"/>
            <a:pathLst>
              <a:path w="579570" h="238720">
                <a:moveTo>
                  <a:pt x="63500" y="0"/>
                </a:moveTo>
                <a:lnTo>
                  <a:pt x="516070" y="0"/>
                </a:lnTo>
                <a:arcTo hR="63500" wR="63500" stAng="16200000" swAng="5400000"/>
                <a:lnTo>
                  <a:pt x="57957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none" lIns="0" tIns="0" rIns="0" bIns="0" rtlCol="0" anchor="ctr">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HTML</a:t>
            </a:r>
            <a:endParaRPr lang="en-US" sz="1200" dirty="0"/>
          </a:p>
        </p:txBody>
      </p:sp>
      <p:sp>
        <p:nvSpPr>
          <p:cNvPr id="9" name="Text 6"/>
          <p:cNvSpPr/>
          <p:nvPr/>
        </p:nvSpPr>
        <p:spPr>
          <a:xfrm>
            <a:off x="876088" y="3796376"/>
            <a:ext cx="233277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تجربة الخدمة الإلكترونية</a:t>
            </a:r>
            <a:endParaRPr lang="en-US" sz="1400" dirty="0"/>
          </a:p>
        </p:txBody>
      </p:sp>
      <p:sp>
        <p:nvSpPr>
          <p:cNvPr id="10" name="Text 7"/>
          <p:cNvSpPr/>
          <p:nvPr/>
        </p:nvSpPr>
        <p:spPr>
          <a:xfrm>
            <a:off x="876088" y="4116387"/>
            <a:ext cx="2332778" cy="467254"/>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صفحة الخدمة والنموذج والتأكيد والتتبع، بتصميم القالب</a:t>
            </a:r>
            <a:endParaRPr lang="en-US" sz="1200" dirty="0"/>
          </a:p>
        </p:txBody>
      </p:sp>
      <p:sp>
        <p:nvSpPr>
          <p:cNvPr id="11" name="Shape 8"/>
          <p:cNvSpPr/>
          <p:nvPr/>
        </p:nvSpPr>
        <p:spPr>
          <a:xfrm>
            <a:off x="3495675" y="1854795"/>
            <a:ext cx="2520950" cy="2831505"/>
          </a:xfrm>
          <a:prstGeom prst="roundRect">
            <a:avLst>
              <a:gd name="adj" fmla="val 3904"/>
            </a:avLst>
          </a:prstGeom>
          <a:solidFill>
            <a:srgbClr val="FDFCF9"/>
          </a:solidFill>
          <a:ln w="6350">
            <a:solidFill>
              <a:srgbClr val="E2E4DE"/>
            </a:solidFill>
            <a:prstDash val="solid"/>
          </a:ln>
        </p:spPr>
      </p:sp>
      <p:sp>
        <p:nvSpPr>
          <p:cNvPr id="12" name="Shape 9"/>
          <p:cNvSpPr/>
          <p:nvPr/>
        </p:nvSpPr>
        <p:spPr>
          <a:xfrm>
            <a:off x="3623733" y="1982856"/>
            <a:ext cx="2273300" cy="1397000"/>
          </a:xfrm>
          <a:prstGeom prst="roundRect">
            <a:avLst>
              <a:gd name="adj" fmla="val 4545"/>
            </a:avLst>
          </a:prstGeom>
          <a:solidFill>
            <a:srgbClr val="FFFFFF"/>
          </a:solidFill>
          <a:ln/>
        </p:spPr>
      </p:sp>
      <p:pic>
        <p:nvPicPr>
          <p:cNvPr id="13" name="Image 1" descr="مخطط مسارات سير العمل للأدوار الخمسة">    </p:cNvPr>
          <p:cNvPicPr>
            <a:picLocks noChangeAspect="1"/>
          </p:cNvPicPr>
          <p:nvPr/>
        </p:nvPicPr>
        <p:blipFill>
          <a:blip r:embed="rId2"/>
          <a:stretch>
            <a:fillRect/>
          </a:stretch>
        </p:blipFill>
        <p:spPr>
          <a:xfrm>
            <a:off x="3630083" y="2037085"/>
            <a:ext cx="2260600" cy="1288542"/>
          </a:xfrm>
          <a:custGeom>
            <a:avLst/>
            <a:gdLst/>
            <a:ahLst/>
            <a:cxnLst/>
            <a:rect l="l" t="t" r="r" b="b"/>
            <a:pathLst>
              <a:path w="2260600" h="1288542">
                <a:moveTo>
                  <a:pt x="0" y="9271"/>
                </a:moveTo>
                <a:arcTo wR="57150" hR="57150" stAng="10800000" swAng="560154"/>
                <a:lnTo>
                  <a:pt x="2259843" y="0"/>
                </a:lnTo>
                <a:arcTo wR="57150" hR="57150" stAng="21039846" swAng="560154"/>
                <a:lnTo>
                  <a:pt x="2260600" y="1279271"/>
                </a:lnTo>
                <a:arcTo wR="57150" hR="57150" stAng="0" swAng="560154"/>
                <a:lnTo>
                  <a:pt x="757" y="1288542"/>
                </a:lnTo>
                <a:arcTo wR="57150" hR="57150" stAng="10239846" swAng="560154"/>
                <a:close/>
              </a:path>
            </a:pathLst>
          </a:custGeom>
        </p:spPr>
      </p:pic>
      <p:sp>
        <p:nvSpPr>
          <p:cNvPr id="14" name="Shape 10"/>
          <p:cNvSpPr/>
          <p:nvPr/>
        </p:nvSpPr>
        <p:spPr>
          <a:xfrm>
            <a:off x="3626908" y="1986031"/>
            <a:ext cx="2266950" cy="1390650"/>
          </a:xfrm>
          <a:prstGeom prst="roundRect">
            <a:avLst>
              <a:gd name="adj" fmla="val 4338"/>
            </a:avLst>
          </a:prstGeom>
          <a:noFill/>
          <a:ln w="6350">
            <a:solidFill>
              <a:srgbClr val="E2E4DE"/>
            </a:solidFill>
            <a:prstDash val="solid"/>
          </a:ln>
        </p:spPr>
      </p:sp>
      <p:sp>
        <p:nvSpPr>
          <p:cNvPr id="15" name="Text 11"/>
          <p:cNvSpPr/>
          <p:nvPr/>
        </p:nvSpPr>
        <p:spPr>
          <a:xfrm>
            <a:off x="5394987" y="3468756"/>
            <a:ext cx="493580" cy="238720"/>
          </a:xfrm>
          <a:custGeom>
            <a:avLst/>
            <a:gdLst/>
            <a:ahLst/>
            <a:cxnLst/>
            <a:rect l="l" t="t" r="r" b="b"/>
            <a:pathLst>
              <a:path w="493580" h="238720">
                <a:moveTo>
                  <a:pt x="63500" y="0"/>
                </a:moveTo>
                <a:lnTo>
                  <a:pt x="430080" y="0"/>
                </a:lnTo>
                <a:arcTo hR="63500" wR="63500" stAng="16200000" swAng="5400000"/>
                <a:lnTo>
                  <a:pt x="493580"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none" lIns="0" tIns="0" rIns="0" bIns="0" rtlCol="0" anchor="ctr">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PNG</a:t>
            </a:r>
            <a:endParaRPr lang="en-US" sz="1200" dirty="0"/>
          </a:p>
        </p:txBody>
      </p:sp>
      <p:sp>
        <p:nvSpPr>
          <p:cNvPr id="16" name="Text 12"/>
          <p:cNvSpPr/>
          <p:nvPr/>
        </p:nvSpPr>
        <p:spPr>
          <a:xfrm>
            <a:off x="3555788" y="3796376"/>
            <a:ext cx="233277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مخطط سير العمل</a:t>
            </a:r>
            <a:endParaRPr lang="en-US" sz="1400" dirty="0"/>
          </a:p>
        </p:txBody>
      </p:sp>
      <p:sp>
        <p:nvSpPr>
          <p:cNvPr id="17" name="Text 13"/>
          <p:cNvSpPr/>
          <p:nvPr/>
        </p:nvSpPr>
        <p:spPr>
          <a:xfrm>
            <a:off x="3555788" y="4116387"/>
            <a:ext cx="2332778" cy="467254"/>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مسارات للأدوار الخمسة، ومسار الإعادة إلى المستوى السابق</a:t>
            </a:r>
            <a:endParaRPr lang="en-US" sz="1200" dirty="0"/>
          </a:p>
        </p:txBody>
      </p:sp>
      <p:sp>
        <p:nvSpPr>
          <p:cNvPr id="18" name="Shape 14"/>
          <p:cNvSpPr/>
          <p:nvPr/>
        </p:nvSpPr>
        <p:spPr>
          <a:xfrm>
            <a:off x="6175375" y="1854795"/>
            <a:ext cx="2520950" cy="2831505"/>
          </a:xfrm>
          <a:prstGeom prst="roundRect">
            <a:avLst>
              <a:gd name="adj" fmla="val 3904"/>
            </a:avLst>
          </a:prstGeom>
          <a:solidFill>
            <a:srgbClr val="FDFCF9"/>
          </a:solidFill>
          <a:ln w="6350">
            <a:solidFill>
              <a:srgbClr val="E2E4DE"/>
            </a:solidFill>
            <a:prstDash val="solid"/>
          </a:ln>
        </p:spPr>
      </p:sp>
      <p:sp>
        <p:nvSpPr>
          <p:cNvPr id="19" name="Shape 15"/>
          <p:cNvSpPr/>
          <p:nvPr/>
        </p:nvSpPr>
        <p:spPr>
          <a:xfrm>
            <a:off x="6303433" y="1982856"/>
            <a:ext cx="2273300" cy="1397000"/>
          </a:xfrm>
          <a:prstGeom prst="roundRect">
            <a:avLst>
              <a:gd name="adj" fmla="val 4545"/>
            </a:avLst>
          </a:prstGeom>
          <a:solidFill>
            <a:srgbClr val="FFFFFF"/>
          </a:solidFill>
          <a:ln/>
        </p:spPr>
      </p:sp>
      <p:pic>
        <p:nvPicPr>
          <p:cNvPr id="20" name="Image 2" descr="ملف الحقول للخدمة بأعمدة القالب">    </p:cNvPr>
          <p:cNvPicPr>
            <a:picLocks noChangeAspect="1"/>
          </p:cNvPicPr>
          <p:nvPr/>
        </p:nvPicPr>
        <p:blipFill>
          <a:blip r:embed="rId3"/>
          <a:stretch>
            <a:fillRect/>
          </a:stretch>
        </p:blipFill>
        <p:spPr>
          <a:xfrm>
            <a:off x="6309783" y="2165248"/>
            <a:ext cx="2260600" cy="1032216"/>
          </a:xfrm>
          <a:prstGeom prst="rect">
            <a:avLst/>
          </a:prstGeom>
        </p:spPr>
      </p:pic>
      <p:sp>
        <p:nvSpPr>
          <p:cNvPr id="21" name="Shape 16"/>
          <p:cNvSpPr/>
          <p:nvPr/>
        </p:nvSpPr>
        <p:spPr>
          <a:xfrm>
            <a:off x="6306608" y="1986031"/>
            <a:ext cx="2266950" cy="1390650"/>
          </a:xfrm>
          <a:prstGeom prst="roundRect">
            <a:avLst>
              <a:gd name="adj" fmla="val 4338"/>
            </a:avLst>
          </a:prstGeom>
          <a:noFill/>
          <a:ln w="6350">
            <a:solidFill>
              <a:srgbClr val="E2E4DE"/>
            </a:solidFill>
            <a:prstDash val="solid"/>
          </a:ln>
        </p:spPr>
      </p:sp>
      <p:sp>
        <p:nvSpPr>
          <p:cNvPr id="22" name="Text 17"/>
          <p:cNvSpPr/>
          <p:nvPr/>
        </p:nvSpPr>
        <p:spPr>
          <a:xfrm>
            <a:off x="8011120" y="3468756"/>
            <a:ext cx="557146" cy="238720"/>
          </a:xfrm>
          <a:custGeom>
            <a:avLst/>
            <a:gdLst/>
            <a:ahLst/>
            <a:cxnLst/>
            <a:rect l="l" t="t" r="r" b="b"/>
            <a:pathLst>
              <a:path w="557146" h="238720">
                <a:moveTo>
                  <a:pt x="63500" y="0"/>
                </a:moveTo>
                <a:lnTo>
                  <a:pt x="493646" y="0"/>
                </a:lnTo>
                <a:arcTo hR="63500" wR="63500" stAng="16200000" swAng="5400000"/>
                <a:lnTo>
                  <a:pt x="557146"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none" lIns="0" tIns="0" rIns="0" bIns="0" rtlCol="0" anchor="ctr">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Excel</a:t>
            </a:r>
            <a:endParaRPr lang="en-US" sz="1200" dirty="0"/>
          </a:p>
        </p:txBody>
      </p:sp>
      <p:sp>
        <p:nvSpPr>
          <p:cNvPr id="23" name="Text 18"/>
          <p:cNvSpPr/>
          <p:nvPr/>
        </p:nvSpPr>
        <p:spPr>
          <a:xfrm>
            <a:off x="6235488" y="3796376"/>
            <a:ext cx="233277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الحقول للخدمة</a:t>
            </a:r>
            <a:endParaRPr lang="en-US" sz="1400" dirty="0"/>
          </a:p>
        </p:txBody>
      </p:sp>
      <p:sp>
        <p:nvSpPr>
          <p:cNvPr id="24" name="Text 19"/>
          <p:cNvSpPr/>
          <p:nvPr/>
        </p:nvSpPr>
        <p:spPr>
          <a:xfrm>
            <a:off x="6235488" y="4116387"/>
            <a:ext cx="2332778" cy="467254"/>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‫23 حقلًا في 7 مجموعات على أعمدة القالب، منها 18 بخاصية بانتظار قرار‬</a:t>
            </a:r>
            <a:endParaRPr lang="en-US" sz="1200" dirty="0"/>
          </a:p>
        </p:txBody>
      </p:sp>
      <p:sp>
        <p:nvSpPr>
          <p:cNvPr id="25" name="Shape 20"/>
          <p:cNvSpPr/>
          <p:nvPr/>
        </p:nvSpPr>
        <p:spPr>
          <a:xfrm>
            <a:off x="8855075" y="1854795"/>
            <a:ext cx="2520950" cy="2831505"/>
          </a:xfrm>
          <a:prstGeom prst="roundRect">
            <a:avLst>
              <a:gd name="adj" fmla="val 3904"/>
            </a:avLst>
          </a:prstGeom>
          <a:solidFill>
            <a:srgbClr val="FDFCF9"/>
          </a:solidFill>
          <a:ln w="6350">
            <a:solidFill>
              <a:srgbClr val="E2E4DE"/>
            </a:solidFill>
            <a:prstDash val="solid"/>
          </a:ln>
        </p:spPr>
      </p:sp>
      <p:sp>
        <p:nvSpPr>
          <p:cNvPr id="26" name="Shape 21"/>
          <p:cNvSpPr/>
          <p:nvPr/>
        </p:nvSpPr>
        <p:spPr>
          <a:xfrm>
            <a:off x="8983134" y="1982856"/>
            <a:ext cx="2273300" cy="1397000"/>
          </a:xfrm>
          <a:prstGeom prst="roundRect">
            <a:avLst>
              <a:gd name="adj" fmla="val 4545"/>
            </a:avLst>
          </a:prstGeom>
          <a:solidFill>
            <a:srgbClr val="FFFFFF"/>
          </a:solidFill>
          <a:ln/>
        </p:spPr>
      </p:sp>
      <p:pic>
        <p:nvPicPr>
          <p:cNvPr id="27" name="Image 3" descr="مصفوفة الصلاحيات حسب الإجراء والدور">    </p:cNvPr>
          <p:cNvPicPr>
            <a:picLocks noChangeAspect="1"/>
          </p:cNvPicPr>
          <p:nvPr/>
        </p:nvPicPr>
        <p:blipFill>
          <a:blip r:embed="rId4"/>
          <a:stretch>
            <a:fillRect/>
          </a:stretch>
        </p:blipFill>
        <p:spPr>
          <a:xfrm>
            <a:off x="8989484" y="2072257"/>
            <a:ext cx="2260600" cy="1218197"/>
          </a:xfrm>
          <a:prstGeom prst="rect">
            <a:avLst/>
          </a:prstGeom>
        </p:spPr>
      </p:pic>
      <p:sp>
        <p:nvSpPr>
          <p:cNvPr id="28" name="Shape 22"/>
          <p:cNvSpPr/>
          <p:nvPr/>
        </p:nvSpPr>
        <p:spPr>
          <a:xfrm>
            <a:off x="8986309" y="1986031"/>
            <a:ext cx="2266950" cy="1390650"/>
          </a:xfrm>
          <a:prstGeom prst="roundRect">
            <a:avLst>
              <a:gd name="adj" fmla="val 4338"/>
            </a:avLst>
          </a:prstGeom>
          <a:noFill/>
          <a:ln w="6350">
            <a:solidFill>
              <a:srgbClr val="E2E4DE"/>
            </a:solidFill>
            <a:prstDash val="solid"/>
          </a:ln>
        </p:spPr>
      </p:sp>
      <p:sp>
        <p:nvSpPr>
          <p:cNvPr id="29" name="Text 23"/>
          <p:cNvSpPr/>
          <p:nvPr/>
        </p:nvSpPr>
        <p:spPr>
          <a:xfrm>
            <a:off x="10692474" y="3468756"/>
            <a:ext cx="555493" cy="238720"/>
          </a:xfrm>
          <a:custGeom>
            <a:avLst/>
            <a:gdLst/>
            <a:ahLst/>
            <a:cxnLst/>
            <a:rect l="l" t="t" r="r" b="b"/>
            <a:pathLst>
              <a:path w="555493" h="238720">
                <a:moveTo>
                  <a:pt x="63500" y="0"/>
                </a:moveTo>
                <a:lnTo>
                  <a:pt x="491993" y="0"/>
                </a:lnTo>
                <a:arcTo hR="63500" wR="63500" stAng="16200000" swAng="5400000"/>
                <a:lnTo>
                  <a:pt x="555493" y="175220"/>
                </a:lnTo>
                <a:arcTo hR="63500" wR="63500" stAng="0" swAng="5400000"/>
                <a:lnTo>
                  <a:pt x="63500" y="238720"/>
                </a:lnTo>
                <a:arcTo hR="63500" wR="63500" stAng="5400000" swAng="5400000"/>
                <a:lnTo>
                  <a:pt x="0" y="63500"/>
                </a:lnTo>
                <a:arcTo hR="63500" wR="63500" stAng="10800000" swAng="5400000"/>
                <a:close/>
              </a:path>
            </a:pathLst>
          </a:custGeom>
          <a:solidFill>
            <a:srgbClr val="E1EEEC"/>
          </a:solidFill>
          <a:ln/>
        </p:spPr>
        <p:txBody>
          <a:bodyPr wrap="none" lIns="0" tIns="0" rIns="0" bIns="0" rtlCol="0" anchor="ctr">
            <a:normAutofit/>
          </a:bodyPr>
          <a:lstStyle/>
          <a:p>
            <a:pPr algn="ct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Word</a:t>
            </a:r>
            <a:endParaRPr lang="en-US" sz="1200" dirty="0"/>
          </a:p>
        </p:txBody>
      </p:sp>
      <p:sp>
        <p:nvSpPr>
          <p:cNvPr id="30" name="Text 24"/>
          <p:cNvSpPr/>
          <p:nvPr/>
        </p:nvSpPr>
        <p:spPr>
          <a:xfrm>
            <a:off x="8915189" y="3796376"/>
            <a:ext cx="2332778" cy="256514"/>
          </a:xfrm>
          <a:prstGeom prst="rect">
            <a:avLst/>
          </a:prstGeom>
          <a:noFill/>
          <a:ln/>
        </p:spPr>
        <p:txBody>
          <a:bodyPr wrap="square" lIns="0" tIns="0" rIns="0" bIns="0" rtlCol="0" anchor="t">
            <a:normAutofit/>
          </a:bodyPr>
          <a:lstStyle/>
          <a:p>
            <a:pPr algn="r" indent="0" marL="0">
              <a:lnSpc>
                <a:spcPts val="1820"/>
              </a:lnSpc>
              <a:buNone/>
            </a:pPr>
            <a:r>
              <a:rPr lang="en-US" sz="1400" b="1" dirty="0">
                <a:solidFill>
                  <a:srgbClr val="12343B"/>
                </a:solidFill>
                <a:latin typeface="IBM Plex Sans Arabic" pitchFamily="34" charset="0"/>
                <a:ea typeface="IBM Plex Sans Arabic" pitchFamily="34" charset="-122"/>
                <a:cs typeface="IBM Plex Sans Arabic" pitchFamily="34" charset="-120"/>
              </a:rPr>
              <a:t>وثيقة صلاحيات المستخدمين</a:t>
            </a:r>
            <a:endParaRPr lang="en-US" sz="1400" dirty="0"/>
          </a:p>
        </p:txBody>
      </p:sp>
      <p:sp>
        <p:nvSpPr>
          <p:cNvPr id="31" name="Text 25"/>
          <p:cNvSpPr/>
          <p:nvPr/>
        </p:nvSpPr>
        <p:spPr>
          <a:xfrm>
            <a:off x="8915189" y="4116387"/>
            <a:ext cx="2332778" cy="467254"/>
          </a:xfrm>
          <a:prstGeom prst="rect">
            <a:avLst/>
          </a:prstGeom>
          <a:noFill/>
          <a:ln/>
        </p:spPr>
        <p:txBody>
          <a:bodyPr wrap="square" lIns="0" tIns="0" rIns="0" bIns="0" rtlCol="0" anchor="t">
            <a:normAutofit/>
          </a:bodyPr>
          <a:lstStyle/>
          <a:p>
            <a:pPr algn="r" indent="0" marL="0">
              <a:lnSpc>
                <a:spcPts val="1740"/>
              </a:lnSpc>
              <a:buNone/>
            </a:pPr>
            <a:r>
              <a:rPr lang="en-US" sz="1200" dirty="0">
                <a:solidFill>
                  <a:srgbClr val="4F6266"/>
                </a:solidFill>
                <a:latin typeface="IBM Plex Sans Arabic" pitchFamily="34" charset="0"/>
                <a:ea typeface="IBM Plex Sans Arabic" pitchFamily="34" charset="-122"/>
                <a:cs typeface="IBM Plex Sans Arabic" pitchFamily="34" charset="-120"/>
              </a:rPr>
              <a:t>مصفوفة من 35 إجراءً على 7 أدوار، و12 نقطة بانتظار قرار</a:t>
            </a:r>
            <a:endParaRPr lang="en-US" sz="1200" dirty="0"/>
          </a:p>
        </p:txBody>
      </p:sp>
      <p:sp>
        <p:nvSpPr>
          <p:cNvPr id="32" name="Text 26"/>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F5C63"/>
                </a:solidFill>
                <a:latin typeface="IBM Plex Sans Arabic" pitchFamily="34" charset="0"/>
                <a:ea typeface="IBM Plex Sans Arabic" pitchFamily="34" charset="-122"/>
                <a:cs typeface="IBM Plex Sans Arabic" pitchFamily="34" charset="-120"/>
              </a:rPr>
              <a:t>النتائج</a:t>
            </a:r>
            <a:endParaRPr lang="en-US" sz="1200" dirty="0"/>
          </a:p>
        </p:txBody>
      </p:sp>
      <p:sp>
        <p:nvSpPr>
          <p:cNvPr id="3" name="Text 1"/>
          <p:cNvSpPr/>
          <p:nvPr>
            <p:ph type="title"/>
          </p:nvPr>
        </p:nvSpPr>
        <p:spPr>
          <a:xfrm>
            <a:off x="495808" y="1102320"/>
            <a:ext cx="10883392" cy="520700"/>
          </a:xfrm>
          <a:prstGeom prst="rect">
            <a:avLst/>
          </a:prstGeom>
          <a:noFill/>
          <a:ln/>
        </p:spPr>
        <p:txBody>
          <a:bodyPr wrap="square" lIns="0" tIns="0" rIns="0" bIns="0" rtlCol="0" anchor="t">
            <a:normAutofit/>
          </a:bodyPr>
          <a:lstStyle/>
          <a:p>
            <a:pPr algn="r" indent="0" marL="0">
              <a:lnSpc>
                <a:spcPts val="3900"/>
              </a:lnSpc>
              <a:buNone/>
            </a:pPr>
            <a:r>
              <a:rPr lang="en-US" sz="3000" b="1" i="0" dirty="0">
                <a:solidFill>
                  <a:srgbClr val="12343B"/>
                </a:solidFill>
                <a:latin typeface="Noto Kufi Arabic" pitchFamily="34" charset="0"/>
                <a:ea typeface="Noto Kufi Arabic" pitchFamily="34" charset="-122"/>
                <a:cs typeface="Noto Kufi Arabic" pitchFamily="34" charset="-120"/>
              </a:rPr>
              <a:t>ضمان الجودة والاتساق</a:t>
            </a:r>
            <a:endParaRPr lang="en-US" sz="3000" dirty="0"/>
          </a:p>
        </p:txBody>
      </p:sp>
      <p:sp>
        <p:nvSpPr>
          <p:cNvPr id="4" name="Shape 2"/>
          <p:cNvSpPr/>
          <p:nvPr/>
        </p:nvSpPr>
        <p:spPr>
          <a:xfrm>
            <a:off x="815975" y="1854795"/>
            <a:ext cx="5200650" cy="2298171"/>
          </a:xfrm>
          <a:prstGeom prst="roundRect">
            <a:avLst>
              <a:gd name="adj" fmla="val 4283"/>
            </a:avLst>
          </a:prstGeom>
          <a:solidFill>
            <a:srgbClr val="FDFCF9"/>
          </a:solidFill>
          <a:ln w="6350">
            <a:solidFill>
              <a:srgbClr val="E2E4DE"/>
            </a:solidFill>
            <a:prstDash val="solid"/>
          </a:ln>
        </p:spPr>
      </p:sp>
      <p:sp>
        <p:nvSpPr>
          <p:cNvPr id="5" name="Text 3"/>
          <p:cNvSpPr/>
          <p:nvPr/>
        </p:nvSpPr>
        <p:spPr>
          <a:xfrm>
            <a:off x="876469" y="2059056"/>
            <a:ext cx="4935897"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المراجعة البصرية والنتائج</a:t>
            </a:r>
            <a:endParaRPr lang="en-US" sz="1600" dirty="0"/>
          </a:p>
        </p:txBody>
      </p:sp>
      <p:sp>
        <p:nvSpPr>
          <p:cNvPr id="6" name="Text 4"/>
          <p:cNvSpPr/>
          <p:nvPr/>
        </p:nvSpPr>
        <p:spPr>
          <a:xfrm>
            <a:off x="886375" y="2450176"/>
            <a:ext cx="459579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فتح كل ملف وفحص صفحاته قبل التسليم</a:t>
            </a:r>
            <a:endParaRPr lang="en-US" sz="1400" dirty="0"/>
          </a:p>
        </p:txBody>
      </p:sp>
      <p:pic>
        <p:nvPicPr>
          <p:cNvPr id="7" name="Image 0" descr="CheckCircle">    </p:cNvPr>
          <p:cNvPicPr>
            <a:picLocks noChangeAspect="1"/>
          </p:cNvPicPr>
          <p:nvPr/>
        </p:nvPicPr>
        <p:blipFill>
          <a:blip r:embed="rId1"/>
          <a:srcRect l="0" r="0" t="0" b="0"/>
          <a:stretch/>
        </p:blipFill>
        <p:spPr>
          <a:xfrm>
            <a:off x="5583767" y="2450176"/>
            <a:ext cx="228600" cy="228600"/>
          </a:xfrm>
          <a:prstGeom prst="rect">
            <a:avLst/>
          </a:prstGeom>
        </p:spPr>
      </p:pic>
      <p:sp>
        <p:nvSpPr>
          <p:cNvPr id="8" name="Text 5"/>
          <p:cNvSpPr/>
          <p:nvPr/>
        </p:nvSpPr>
        <p:spPr>
          <a:xfrm>
            <a:off x="886375" y="2826085"/>
            <a:ext cx="4595791" cy="523214"/>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خطوات المخطط تطابق جدول سير الإجراءات، وحقول التجربة تطابق ملف الحقول</a:t>
            </a:r>
            <a:endParaRPr lang="en-US" sz="1400" dirty="0"/>
          </a:p>
        </p:txBody>
      </p:sp>
      <p:pic>
        <p:nvPicPr>
          <p:cNvPr id="9" name="Image 1" descr="CheckCircle">    </p:cNvPr>
          <p:cNvPicPr>
            <a:picLocks noChangeAspect="1"/>
          </p:cNvPicPr>
          <p:nvPr/>
        </p:nvPicPr>
        <p:blipFill>
          <a:blip r:embed="rId2"/>
          <a:srcRect l="0" r="0" t="0" b="0"/>
          <a:stretch/>
        </p:blipFill>
        <p:spPr>
          <a:xfrm>
            <a:off x="5583767" y="2826085"/>
            <a:ext cx="228600" cy="228600"/>
          </a:xfrm>
          <a:prstGeom prst="rect">
            <a:avLst/>
          </a:prstGeom>
        </p:spPr>
      </p:pic>
      <p:sp>
        <p:nvSpPr>
          <p:cNvPr id="10" name="Text 6"/>
          <p:cNvSpPr/>
          <p:nvPr/>
        </p:nvSpPr>
        <p:spPr>
          <a:xfrm>
            <a:off x="886375" y="3450896"/>
            <a:ext cx="4595791" cy="523214"/>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نقطة جديدة من المصفوفة: هل يشمل تعديل «محتوى التقرير» الملاحظاتِ والتوصيات؟</a:t>
            </a:r>
            <a:endParaRPr lang="en-US" sz="1400" dirty="0"/>
          </a:p>
        </p:txBody>
      </p:sp>
      <p:pic>
        <p:nvPicPr>
          <p:cNvPr id="11" name="Image 2" descr="Lightbulb">    </p:cNvPr>
          <p:cNvPicPr>
            <a:picLocks noChangeAspect="1"/>
          </p:cNvPicPr>
          <p:nvPr/>
        </p:nvPicPr>
        <p:blipFill>
          <a:blip r:embed="rId3"/>
          <a:srcRect l="0" r="0" t="0" b="0"/>
          <a:stretch/>
        </p:blipFill>
        <p:spPr>
          <a:xfrm>
            <a:off x="5583767" y="3450896"/>
            <a:ext cx="228600" cy="228600"/>
          </a:xfrm>
          <a:prstGeom prst="rect">
            <a:avLst/>
          </a:prstGeom>
        </p:spPr>
      </p:pic>
      <p:sp>
        <p:nvSpPr>
          <p:cNvPr id="12" name="Shape 7"/>
          <p:cNvSpPr/>
          <p:nvPr/>
        </p:nvSpPr>
        <p:spPr>
          <a:xfrm>
            <a:off x="6175375" y="1854795"/>
            <a:ext cx="5200650" cy="2298171"/>
          </a:xfrm>
          <a:prstGeom prst="roundRect">
            <a:avLst>
              <a:gd name="adj" fmla="val 4283"/>
            </a:avLst>
          </a:prstGeom>
          <a:solidFill>
            <a:srgbClr val="FDFCF9"/>
          </a:solidFill>
          <a:ln w="6350">
            <a:solidFill>
              <a:srgbClr val="E2E4DE"/>
            </a:solidFill>
            <a:prstDash val="solid"/>
          </a:ln>
        </p:spPr>
      </p:sp>
      <p:sp>
        <p:nvSpPr>
          <p:cNvPr id="13" name="Text 8"/>
          <p:cNvSpPr/>
          <p:nvPr/>
        </p:nvSpPr>
        <p:spPr>
          <a:xfrm>
            <a:off x="6235869" y="2059056"/>
            <a:ext cx="4935897" cy="289520"/>
          </a:xfrm>
          <a:prstGeom prst="rect">
            <a:avLst/>
          </a:prstGeom>
          <a:noFill/>
          <a:ln/>
        </p:spPr>
        <p:txBody>
          <a:bodyPr wrap="square" lIns="0" tIns="0" rIns="0" bIns="0" rtlCol="0" anchor="t">
            <a:normAutofit/>
          </a:bodyPr>
          <a:lstStyle/>
          <a:p>
            <a:pPr algn="r" indent="0" marL="0">
              <a:lnSpc>
                <a:spcPts val="2080"/>
              </a:lnSpc>
              <a:buNone/>
            </a:pPr>
            <a:r>
              <a:rPr lang="en-US" sz="1600" b="1" dirty="0">
                <a:solidFill>
                  <a:srgbClr val="12343B"/>
                </a:solidFill>
                <a:latin typeface="IBM Plex Sans Arabic" pitchFamily="34" charset="0"/>
                <a:ea typeface="IBM Plex Sans Arabic" pitchFamily="34" charset="-122"/>
                <a:cs typeface="IBM Plex Sans Arabic" pitchFamily="34" charset="-120"/>
              </a:rPr>
              <a:t>فحوص التتبع الآلية</a:t>
            </a:r>
            <a:endParaRPr lang="en-US" sz="1600" dirty="0"/>
          </a:p>
        </p:txBody>
      </p:sp>
      <p:sp>
        <p:nvSpPr>
          <p:cNvPr id="14" name="Text 9"/>
          <p:cNvSpPr/>
          <p:nvPr/>
        </p:nvSpPr>
        <p:spPr>
          <a:xfrm>
            <a:off x="6245775" y="2450176"/>
            <a:ext cx="459579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كل صلاحية من الـ61 مرتبطة بخاصية مستخدم</a:t>
            </a:r>
            <a:endParaRPr lang="en-US" sz="1400" dirty="0"/>
          </a:p>
        </p:txBody>
      </p:sp>
      <p:pic>
        <p:nvPicPr>
          <p:cNvPr id="15" name="Image 3" descr="CheckCircle">    </p:cNvPr>
          <p:cNvPicPr>
            <a:picLocks noChangeAspect="1"/>
          </p:cNvPicPr>
          <p:nvPr/>
        </p:nvPicPr>
        <p:blipFill>
          <a:blip r:embed="rId4"/>
          <a:srcRect l="0" r="0" t="0" b="0"/>
          <a:stretch/>
        </p:blipFill>
        <p:spPr>
          <a:xfrm>
            <a:off x="10943167" y="2450176"/>
            <a:ext cx="228600" cy="228600"/>
          </a:xfrm>
          <a:prstGeom prst="rect">
            <a:avLst/>
          </a:prstGeom>
        </p:spPr>
      </p:pic>
      <p:sp>
        <p:nvSpPr>
          <p:cNvPr id="16" name="Text 10"/>
          <p:cNvSpPr/>
          <p:nvPr/>
        </p:nvSpPr>
        <p:spPr>
          <a:xfrm>
            <a:off x="6245775" y="2826085"/>
            <a:ext cx="459579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كل قاعدة عمل مستخدمة، ولا معيار قبول يكرر نص قاعدة</a:t>
            </a:r>
            <a:endParaRPr lang="en-US" sz="1400" dirty="0"/>
          </a:p>
        </p:txBody>
      </p:sp>
      <p:pic>
        <p:nvPicPr>
          <p:cNvPr id="17" name="Image 4" descr="CheckCircle">    </p:cNvPr>
          <p:cNvPicPr>
            <a:picLocks noChangeAspect="1"/>
          </p:cNvPicPr>
          <p:nvPr/>
        </p:nvPicPr>
        <p:blipFill>
          <a:blip r:embed="rId5"/>
          <a:srcRect l="0" r="0" t="0" b="0"/>
          <a:stretch/>
        </p:blipFill>
        <p:spPr>
          <a:xfrm>
            <a:off x="10943167" y="2826085"/>
            <a:ext cx="228600" cy="228600"/>
          </a:xfrm>
          <a:prstGeom prst="rect">
            <a:avLst/>
          </a:prstGeom>
        </p:spPr>
      </p:pic>
      <p:sp>
        <p:nvSpPr>
          <p:cNvPr id="18" name="Text 11"/>
          <p:cNvSpPr/>
          <p:nvPr/>
        </p:nvSpPr>
        <p:spPr>
          <a:xfrm>
            <a:off x="6245775" y="3201988"/>
            <a:ext cx="459579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إحالات ملف الحقول إلى القواعد والخصائص كلها صحيحة</a:t>
            </a:r>
            <a:endParaRPr lang="en-US" sz="1400" dirty="0"/>
          </a:p>
        </p:txBody>
      </p:sp>
      <p:pic>
        <p:nvPicPr>
          <p:cNvPr id="19" name="Image 5" descr="CheckCircle">    </p:cNvPr>
          <p:cNvPicPr>
            <a:picLocks noChangeAspect="1"/>
          </p:cNvPicPr>
          <p:nvPr/>
        </p:nvPicPr>
        <p:blipFill>
          <a:blip r:embed="rId6"/>
          <a:srcRect l="0" r="0" t="0" b="0"/>
          <a:stretch/>
        </p:blipFill>
        <p:spPr>
          <a:xfrm>
            <a:off x="10943167" y="3201988"/>
            <a:ext cx="228600" cy="228600"/>
          </a:xfrm>
          <a:prstGeom prst="rect">
            <a:avLst/>
          </a:prstGeom>
        </p:spPr>
      </p:pic>
      <p:sp>
        <p:nvSpPr>
          <p:cNvPr id="20" name="Text 12"/>
          <p:cNvSpPr/>
          <p:nvPr/>
        </p:nvSpPr>
        <p:spPr>
          <a:xfrm>
            <a:off x="6245775" y="3577896"/>
            <a:ext cx="4595791" cy="274307"/>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4F6266"/>
                </a:solidFill>
                <a:latin typeface="IBM Plex Sans Arabic" pitchFamily="34" charset="0"/>
                <a:ea typeface="IBM Plex Sans Arabic" pitchFamily="34" charset="-122"/>
                <a:cs typeface="IBM Plex Sans Arabic" pitchFamily="34" charset="-120"/>
              </a:rPr>
              <a:t>‫ملفا Word اجتازا فحص سلامة الصيغة‬</a:t>
            </a:r>
            <a:endParaRPr lang="en-US" sz="1400" dirty="0"/>
          </a:p>
        </p:txBody>
      </p:sp>
      <p:pic>
        <p:nvPicPr>
          <p:cNvPr id="21" name="Image 6" descr="CheckCircle">    </p:cNvPr>
          <p:cNvPicPr>
            <a:picLocks noChangeAspect="1"/>
          </p:cNvPicPr>
          <p:nvPr/>
        </p:nvPicPr>
        <p:blipFill>
          <a:blip r:embed="rId7"/>
          <a:srcRect l="0" r="0" t="0" b="0"/>
          <a:stretch/>
        </p:blipFill>
        <p:spPr>
          <a:xfrm>
            <a:off x="10943167" y="3577896"/>
            <a:ext cx="228600" cy="228600"/>
          </a:xfrm>
          <a:prstGeom prst="rect">
            <a:avLst/>
          </a:prstGeom>
        </p:spPr>
      </p:pic>
      <p:sp>
        <p:nvSpPr>
          <p:cNvPr id="22" name="Text 13"/>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E"/>
                </a:solidFill>
                <a:latin typeface="IBM Plex Sans Arabic" pitchFamily="34" charset="0"/>
                <a:ea typeface="IBM Plex Sans Arabic" pitchFamily="34" charset="-122"/>
                <a:cs typeface="IBM Plex Sans Arabic" pitchFamily="34" charset="-120"/>
              </a:rPr>
              <a:t>مساعد توثيق تحليل الأعمال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5C63"/>
        </a:solidFill>
      </p:bgPr>
    </p:bg>
    <p:spTree>
      <p:nvGrpSpPr>
        <p:cNvPr id="1" name=""/>
        <p:cNvGrpSpPr/>
        <p:nvPr/>
      </p:nvGrpSpPr>
      <p:grpSpPr>
        <a:xfrm>
          <a:off x="0" y="0"/>
          <a:ext cx="0" cy="0"/>
          <a:chOff x="0" y="0"/>
          <a:chExt cx="0" cy="0"/>
        </a:xfrm>
      </p:grpSpPr>
      <p:sp>
        <p:nvSpPr>
          <p:cNvPr id="2" name="Text 0"/>
          <p:cNvSpPr/>
          <p:nvPr/>
        </p:nvSpPr>
        <p:spPr>
          <a:xfrm>
            <a:off x="495808" y="81280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6D3A8"/>
                </a:solidFill>
                <a:latin typeface="IBM Plex Sans Arabic" pitchFamily="34" charset="0"/>
                <a:ea typeface="IBM Plex Sans Arabic" pitchFamily="34" charset="-122"/>
                <a:cs typeface="IBM Plex Sans Arabic" pitchFamily="34" charset="-120"/>
              </a:rPr>
              <a:t>الخطوات التالية</a:t>
            </a:r>
            <a:endParaRPr lang="en-US" sz="1200" dirty="0"/>
          </a:p>
        </p:txBody>
      </p:sp>
      <p:sp>
        <p:nvSpPr>
          <p:cNvPr id="3" name="Text 1"/>
          <p:cNvSpPr/>
          <p:nvPr>
            <p:ph type="title"/>
          </p:nvPr>
        </p:nvSpPr>
        <p:spPr>
          <a:xfrm>
            <a:off x="495808" y="1153120"/>
            <a:ext cx="10883392" cy="558800"/>
          </a:xfrm>
          <a:prstGeom prst="rect">
            <a:avLst/>
          </a:prstGeom>
          <a:noFill/>
          <a:ln/>
        </p:spPr>
        <p:txBody>
          <a:bodyPr wrap="square" lIns="0" tIns="0" rIns="0" bIns="0" rtlCol="0" anchor="t">
            <a:normAutofit/>
          </a:bodyPr>
          <a:lstStyle/>
          <a:p>
            <a:pPr algn="r" indent="0" marL="0">
              <a:lnSpc>
                <a:spcPts val="4200"/>
              </a:lnSpc>
              <a:buNone/>
            </a:pPr>
            <a:r>
              <a:rPr lang="en-US" sz="3000" b="1" i="0" dirty="0">
                <a:solidFill>
                  <a:srgbClr val="F4F8F7"/>
                </a:solidFill>
                <a:latin typeface="Noto Kufi Arabic" pitchFamily="34" charset="0"/>
                <a:ea typeface="Noto Kufi Arabic" pitchFamily="34" charset="-122"/>
                <a:cs typeface="Noto Kufi Arabic" pitchFamily="34" charset="-120"/>
              </a:rPr>
              <a:t>البت في النقاط المعلقة، ثم اعتماد النسخة 1.0</a:t>
            </a:r>
            <a:endParaRPr lang="en-US" sz="3000" dirty="0"/>
          </a:p>
        </p:txBody>
      </p:sp>
      <p:sp>
        <p:nvSpPr>
          <p:cNvPr id="4" name="Shape 2"/>
          <p:cNvSpPr/>
          <p:nvPr/>
        </p:nvSpPr>
        <p:spPr>
          <a:xfrm>
            <a:off x="812800" y="4432300"/>
            <a:ext cx="3420533" cy="1409700"/>
          </a:xfrm>
          <a:prstGeom prst="roundRect">
            <a:avLst>
              <a:gd name="adj" fmla="val 7207"/>
            </a:avLst>
          </a:prstGeom>
          <a:solidFill>
            <a:srgbClr val="16707A"/>
          </a:solidFill>
          <a:ln/>
        </p:spPr>
      </p:sp>
      <p:sp>
        <p:nvSpPr>
          <p:cNvPr id="5" name="Text 3"/>
          <p:cNvSpPr/>
          <p:nvPr/>
        </p:nvSpPr>
        <p:spPr>
          <a:xfrm>
            <a:off x="3674533" y="463550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0A35A"/>
          </a:solidFill>
          <a:ln/>
        </p:spPr>
        <p:txBody>
          <a:bodyPr wrap="square" lIns="0" tIns="0" rIns="0" bIns="0" rtlCol="0" anchor="t">
            <a:normAutofit/>
          </a:bodyPr>
          <a:lstStyle/>
          <a:p>
            <a:pPr algn="ctr" indent="0" marL="0">
              <a:lnSpc>
                <a:spcPts val="2800"/>
              </a:lnSpc>
              <a:buNone/>
            </a:pPr>
            <a:r>
              <a:rPr lang="en-US" sz="1400" b="1" dirty="0">
                <a:solidFill>
                  <a:srgbClr val="3B2205"/>
                </a:solidFill>
                <a:latin typeface="IBM Plex Sans Arabic" pitchFamily="34" charset="0"/>
                <a:ea typeface="IBM Plex Sans Arabic" pitchFamily="34" charset="-122"/>
                <a:cs typeface="IBM Plex Sans Arabic" pitchFamily="34" charset="-120"/>
              </a:rPr>
              <a:t>3</a:t>
            </a:r>
            <a:endParaRPr lang="en-US" sz="1400" dirty="0"/>
          </a:p>
        </p:txBody>
      </p:sp>
      <p:sp>
        <p:nvSpPr>
          <p:cNvPr id="6" name="Text 4"/>
          <p:cNvSpPr/>
          <p:nvPr/>
        </p:nvSpPr>
        <p:spPr>
          <a:xfrm>
            <a:off x="925576" y="5105400"/>
            <a:ext cx="3104557" cy="5588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F4F8F7"/>
                </a:solidFill>
                <a:latin typeface="IBM Plex Sans Arabic" pitchFamily="34" charset="0"/>
                <a:ea typeface="IBM Plex Sans Arabic" pitchFamily="34" charset="-122"/>
                <a:cs typeface="IBM Plex Sans Arabic" pitchFamily="34" charset="-120"/>
              </a:rPr>
              <a:t>مراجعة الاتساق مرة أخرى، ثم اعتماد النسخة 1.0</a:t>
            </a:r>
            <a:endParaRPr lang="en-US" sz="1400" dirty="0"/>
          </a:p>
        </p:txBody>
      </p:sp>
      <p:sp>
        <p:nvSpPr>
          <p:cNvPr id="7" name="Shape 5"/>
          <p:cNvSpPr/>
          <p:nvPr/>
        </p:nvSpPr>
        <p:spPr>
          <a:xfrm>
            <a:off x="4385733" y="4432300"/>
            <a:ext cx="3420533" cy="1409700"/>
          </a:xfrm>
          <a:prstGeom prst="roundRect">
            <a:avLst>
              <a:gd name="adj" fmla="val 7207"/>
            </a:avLst>
          </a:prstGeom>
          <a:solidFill>
            <a:srgbClr val="16707A"/>
          </a:solidFill>
          <a:ln/>
        </p:spPr>
      </p:sp>
      <p:sp>
        <p:nvSpPr>
          <p:cNvPr id="8" name="Text 6"/>
          <p:cNvSpPr/>
          <p:nvPr/>
        </p:nvSpPr>
        <p:spPr>
          <a:xfrm>
            <a:off x="7247467" y="463550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0A35A"/>
          </a:solidFill>
          <a:ln/>
        </p:spPr>
        <p:txBody>
          <a:bodyPr wrap="square" lIns="0" tIns="0" rIns="0" bIns="0" rtlCol="0" anchor="t">
            <a:normAutofit/>
          </a:bodyPr>
          <a:lstStyle/>
          <a:p>
            <a:pPr algn="ctr" indent="0" marL="0">
              <a:lnSpc>
                <a:spcPts val="2800"/>
              </a:lnSpc>
              <a:buNone/>
            </a:pPr>
            <a:r>
              <a:rPr lang="en-US" sz="1400" b="1" dirty="0">
                <a:solidFill>
                  <a:srgbClr val="3B2205"/>
                </a:solidFill>
                <a:latin typeface="IBM Plex Sans Arabic" pitchFamily="34" charset="0"/>
                <a:ea typeface="IBM Plex Sans Arabic" pitchFamily="34" charset="-122"/>
                <a:cs typeface="IBM Plex Sans Arabic" pitchFamily="34" charset="-120"/>
              </a:rPr>
              <a:t>2</a:t>
            </a:r>
            <a:endParaRPr lang="en-US" sz="1400" dirty="0"/>
          </a:p>
        </p:txBody>
      </p:sp>
      <p:sp>
        <p:nvSpPr>
          <p:cNvPr id="9" name="Text 7"/>
          <p:cNvSpPr/>
          <p:nvPr/>
        </p:nvSpPr>
        <p:spPr>
          <a:xfrm>
            <a:off x="4498509" y="5105400"/>
            <a:ext cx="3104557" cy="5588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F4F8F7"/>
                </a:solidFill>
                <a:latin typeface="IBM Plex Sans Arabic" pitchFamily="34" charset="0"/>
                <a:ea typeface="IBM Plex Sans Arabic" pitchFamily="34" charset="-122"/>
                <a:cs typeface="IBM Plex Sans Arabic" pitchFamily="34" charset="-120"/>
              </a:rPr>
              <a:t>تحديث الوثيقة والملفات المساندة بالقرارات المعتمدة</a:t>
            </a:r>
            <a:endParaRPr lang="en-US" sz="1400" dirty="0"/>
          </a:p>
        </p:txBody>
      </p:sp>
      <p:sp>
        <p:nvSpPr>
          <p:cNvPr id="10" name="Shape 8"/>
          <p:cNvSpPr/>
          <p:nvPr/>
        </p:nvSpPr>
        <p:spPr>
          <a:xfrm>
            <a:off x="7958667" y="4432300"/>
            <a:ext cx="3420533" cy="1409700"/>
          </a:xfrm>
          <a:prstGeom prst="roundRect">
            <a:avLst>
              <a:gd name="adj" fmla="val 7207"/>
            </a:avLst>
          </a:prstGeom>
          <a:solidFill>
            <a:srgbClr val="16707A"/>
          </a:solidFill>
          <a:ln/>
        </p:spPr>
      </p:sp>
      <p:sp>
        <p:nvSpPr>
          <p:cNvPr id="11" name="Text 9"/>
          <p:cNvSpPr/>
          <p:nvPr/>
        </p:nvSpPr>
        <p:spPr>
          <a:xfrm>
            <a:off x="10820400" y="463550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0A35A"/>
          </a:solidFill>
          <a:ln/>
        </p:spPr>
        <p:txBody>
          <a:bodyPr wrap="square" lIns="0" tIns="0" rIns="0" bIns="0" rtlCol="0" anchor="t">
            <a:normAutofit/>
          </a:bodyPr>
          <a:lstStyle/>
          <a:p>
            <a:pPr algn="ctr" indent="0" marL="0">
              <a:lnSpc>
                <a:spcPts val="2800"/>
              </a:lnSpc>
              <a:buNone/>
            </a:pPr>
            <a:r>
              <a:rPr lang="en-US" sz="1400" b="1" dirty="0">
                <a:solidFill>
                  <a:srgbClr val="3B2205"/>
                </a:solidFill>
                <a:latin typeface="IBM Plex Sans Arabic" pitchFamily="34" charset="0"/>
                <a:ea typeface="IBM Plex Sans Arabic" pitchFamily="34" charset="-122"/>
                <a:cs typeface="IBM Plex Sans Arabic" pitchFamily="34" charset="-120"/>
              </a:rPr>
              <a:t>1</a:t>
            </a:r>
            <a:endParaRPr lang="en-US" sz="1400" dirty="0"/>
          </a:p>
        </p:txBody>
      </p:sp>
      <p:sp>
        <p:nvSpPr>
          <p:cNvPr id="12" name="Text 10"/>
          <p:cNvSpPr/>
          <p:nvPr/>
        </p:nvSpPr>
        <p:spPr>
          <a:xfrm>
            <a:off x="7958667" y="5105400"/>
            <a:ext cx="3217333" cy="292100"/>
          </a:xfrm>
          <a:prstGeom prst="rect">
            <a:avLst/>
          </a:prstGeom>
          <a:noFill/>
          <a:ln/>
        </p:spPr>
        <p:txBody>
          <a:bodyPr wrap="square" lIns="0" tIns="0" rIns="0" bIns="0" rtlCol="0" anchor="t">
            <a:normAutofit/>
          </a:bodyPr>
          <a:lstStyle/>
          <a:p>
            <a:pPr algn="r" indent="0" marL="0">
              <a:lnSpc>
                <a:spcPts val="2100"/>
              </a:lnSpc>
              <a:buNone/>
            </a:pPr>
            <a:r>
              <a:rPr lang="en-US" sz="1400" dirty="0">
                <a:solidFill>
                  <a:srgbClr val="F4F8F7"/>
                </a:solidFill>
                <a:latin typeface="IBM Plex Sans Arabic" pitchFamily="34" charset="0"/>
                <a:ea typeface="IBM Plex Sans Arabic" pitchFamily="34" charset="-122"/>
                <a:cs typeface="IBM Plex Sans Arabic" pitchFamily="34" charset="-120"/>
              </a:rPr>
              <a:t>البت في 15 نقطة تحتاج قرارًا مع الجهة المالكة</a:t>
            </a:r>
            <a:endParaRPr lang="en-US" sz="1400" dirty="0"/>
          </a:p>
        </p:txBody>
      </p:sp>
      <p:sp>
        <p:nvSpPr>
          <p:cNvPr id="13" name="Text 11"/>
          <p:cNvSpPr/>
          <p:nvPr/>
        </p:nvSpPr>
        <p:spPr>
          <a:xfrm>
            <a:off x="495808" y="6238280"/>
            <a:ext cx="108833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5E2"/>
                </a:solidFill>
                <a:latin typeface="IBM Plex Sans Arabic" pitchFamily="34" charset="0"/>
                <a:ea typeface="IBM Plex Sans Arabic" pitchFamily="34" charset="-122"/>
                <a:cs typeface="IBM Plex Sans Arabic" pitchFamily="34" charset="-120"/>
              </a:rPr>
              <a:t>مساعد توثيق تحليل الأعمال · 14</a:t>
            </a:r>
            <a:endParaRPr lang="en-US" sz="1200" dirty="0"/>
          </a:p>
        </p:txBody>
      </p:sp>
    </p:spTree>
  </p:cSld>
  <p:clrMapOvr>
    <a:masterClrMapping/>
  </p:clrMapOvr>
</p:sld>
</file>

<file path=ppt/theme/theme1.xml><?xml version="1.0" encoding="utf-8"?>
<a:theme xmlns:a="http://schemas.openxmlformats.org/drawingml/2006/main" name="مساعد توثيق تحليل الأعمال — خطوات المشروع">
  <a:themeElements>
    <a:clrScheme name="مساعد توثيق تحليل الأعمال — خطوات المشروع">
      <a:dk1>
        <a:srgbClr val="12343B"/>
      </a:dk1>
      <a:lt1>
        <a:srgbClr val="F6F5F1"/>
      </a:lt1>
      <a:dk2>
        <a:srgbClr val="4B6469"/>
      </a:dk2>
      <a:lt2>
        <a:srgbClr val="DFE2DF"/>
      </a:lt2>
      <a:accent1>
        <a:srgbClr val="0F5C63"/>
      </a:accent1>
      <a:accent2>
        <a:srgbClr val="F0A35A"/>
      </a:accent2>
      <a:accent3>
        <a:srgbClr val="3B2205"/>
      </a:accent3>
      <a:accent4>
        <a:srgbClr val="16707A"/>
      </a:accent4>
      <a:accent5>
        <a:srgbClr val="A65A0E"/>
      </a:accent5>
      <a:accent6>
        <a:srgbClr val="F6D3A8"/>
      </a:accent6>
      <a:hlink>
        <a:srgbClr val="0563C1"/>
      </a:hlink>
      <a:folHlink>
        <a:srgbClr val="954F72"/>
      </a:folHlink>
    </a:clrScheme>
    <a:fontScheme name="مساعد توثيق تحليل الأعمال — خطوات المشروع">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مساعد توثيق تحليل الأعمال — خطوات المشروع</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Noto Kufi Arabic
Copyright 2022 The Noto Project Authors (https://github.com/notofonts/arabic)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2026-10-22T10:24:06Z</dcterms:created>
  <dcterms:modified xsi:type="dcterms:W3CDTF">2026-10-22T10:24:06Z</dcterms:modified>
</cp:coreProperties>
</file>