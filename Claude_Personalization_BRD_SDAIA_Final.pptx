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d8e340ae684eaa" /><Relationship Type="http://schemas.openxmlformats.org/officeDocument/2006/relationships/extended-properties" Target="/docProps/app.xml" Id="Rce2dba310f1a4b3b" /><Relationship Type="http://schemas.openxmlformats.org/officeDocument/2006/relationships/officeDocument" Target="/ppt/presentation.xml" Id="R3e96ad455ffa47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c262585674fea"/>
  </p:sldMasterIdLst>
  <p:notesMasterIdLst>
    <p:notesMasterId xmlns:r="http://schemas.openxmlformats.org/officeDocument/2006/relationships" r:id="R11394c6808cc4616"/>
  </p:notesMasterIdLst>
  <p:sldIdLst>
    <p:sldId xmlns:r="http://schemas.openxmlformats.org/officeDocument/2006/relationships" id="256" r:id="R33422d7a4501427a"/>
    <p:sldId xmlns:r="http://schemas.openxmlformats.org/officeDocument/2006/relationships" id="257" r:id="R04a1318b40064764"/>
    <p:sldId xmlns:r="http://schemas.openxmlformats.org/officeDocument/2006/relationships" id="258" r:id="Rd14aea34cd314d9e"/>
    <p:sldId xmlns:r="http://schemas.openxmlformats.org/officeDocument/2006/relationships" id="259" r:id="R0789c1057b844faa"/>
    <p:sldId xmlns:r="http://schemas.openxmlformats.org/officeDocument/2006/relationships" id="260" r:id="R60f156a9cb804246"/>
    <p:sldId xmlns:r="http://schemas.openxmlformats.org/officeDocument/2006/relationships" id="261" r:id="Rebf4355c42aa4881"/>
    <p:sldId xmlns:r="http://schemas.openxmlformats.org/officeDocument/2006/relationships" id="262" r:id="Rccd5154977eb48a8"/>
    <p:sldId xmlns:r="http://schemas.openxmlformats.org/officeDocument/2006/relationships" id="263" r:id="R5d9ad6968fbb4f16"/>
    <p:sldId xmlns:r="http://schemas.openxmlformats.org/officeDocument/2006/relationships" id="264" r:id="R3527d2ea07084481"/>
    <p:sldId xmlns:r="http://schemas.openxmlformats.org/officeDocument/2006/relationships" id="265" r:id="Rd9e78204442e4c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a1faceabba4546" /><Relationship Type="http://schemas.openxmlformats.org/officeDocument/2006/relationships/slideMaster" Target="/ppt/slideMasters/slideMaster1.xml" Id="Rf57c262585674fea" /><Relationship Type="http://schemas.openxmlformats.org/officeDocument/2006/relationships/notesMaster" Target="/ppt/notesMasters/notesMaster1.xml" Id="R11394c6808cc4616" /><Relationship Type="http://schemas.openxmlformats.org/officeDocument/2006/relationships/presProps" Target="/ppt/presProps.xml" Id="Rdcaf834fa9114593" /><Relationship Type="http://schemas.openxmlformats.org/officeDocument/2006/relationships/tableStyles" Target="/ppt/tableStyles.xml" Id="R4cbf0e8af9454244" /><Relationship Type="http://schemas.openxmlformats.org/officeDocument/2006/relationships/slide" Target="/ppt/slides/slide1.xml" Id="R33422d7a4501427a" /><Relationship Type="http://schemas.openxmlformats.org/officeDocument/2006/relationships/slide" Target="/ppt/slides/slide2.xml" Id="R04a1318b40064764" /><Relationship Type="http://schemas.openxmlformats.org/officeDocument/2006/relationships/slide" Target="/ppt/slides/slide3.xml" Id="Rd14aea34cd314d9e" /><Relationship Type="http://schemas.openxmlformats.org/officeDocument/2006/relationships/slide" Target="/ppt/slides/slide4.xml" Id="R0789c1057b844faa" /><Relationship Type="http://schemas.openxmlformats.org/officeDocument/2006/relationships/slide" Target="/ppt/slides/slide5.xml" Id="R60f156a9cb804246" /><Relationship Type="http://schemas.openxmlformats.org/officeDocument/2006/relationships/slide" Target="/ppt/slides/slide6.xml" Id="Rebf4355c42aa4881" /><Relationship Type="http://schemas.openxmlformats.org/officeDocument/2006/relationships/slide" Target="/ppt/slides/slide7.xml" Id="Rccd5154977eb48a8" /><Relationship Type="http://schemas.openxmlformats.org/officeDocument/2006/relationships/slide" Target="/ppt/slides/slide8.xml" Id="R5d9ad6968fbb4f16" /><Relationship Type="http://schemas.openxmlformats.org/officeDocument/2006/relationships/slide" Target="/ppt/slides/slide9.xml" Id="R3527d2ea07084481" /><Relationship Type="http://schemas.openxmlformats.org/officeDocument/2006/relationships/slide" Target="/ppt/slides/slide10.xml" Id="Rd9e78204442e4c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dd5e00861e47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40d6fb94164938" /><Relationship Type="http://schemas.openxmlformats.org/officeDocument/2006/relationships/notesMaster" Target="/ppt/notesMasters/notesMaster1.xml" Id="Rc849beeb170f43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763d6eb65a6486b" /><Relationship Type="http://schemas.openxmlformats.org/officeDocument/2006/relationships/notesMaster" Target="/ppt/notesMasters/notesMaster1.xml" Id="Rc4cd685e1008495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9d127d9a8d4ee4" /><Relationship Type="http://schemas.openxmlformats.org/officeDocument/2006/relationships/notesMaster" Target="/ppt/notesMasters/notesMaster1.xml" Id="Rf76bd30233fe46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ead7bec9804adf" /><Relationship Type="http://schemas.openxmlformats.org/officeDocument/2006/relationships/notesMaster" Target="/ppt/notesMasters/notesMaster1.xml" Id="Re6cd0537e02648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00c3ff863f4764" /><Relationship Type="http://schemas.openxmlformats.org/officeDocument/2006/relationships/notesMaster" Target="/ppt/notesMasters/notesMaster1.xml" Id="R6f0aacf5403248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45e9a37aef4118" /><Relationship Type="http://schemas.openxmlformats.org/officeDocument/2006/relationships/notesMaster" Target="/ppt/notesMasters/notesMaster1.xml" Id="R8def0fe8494548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7680a63f034a55" /><Relationship Type="http://schemas.openxmlformats.org/officeDocument/2006/relationships/notesMaster" Target="/ppt/notesMasters/notesMaster1.xml" Id="R8b14a6e6a82546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7fecee34e4b4c5e" /><Relationship Type="http://schemas.openxmlformats.org/officeDocument/2006/relationships/notesMaster" Target="/ppt/notesMasters/notesMaster1.xml" Id="R6e674cb3eaa747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1ab8d9394f4c8d" /><Relationship Type="http://schemas.openxmlformats.org/officeDocument/2006/relationships/notesMaster" Target="/ppt/notesMasters/notesMaster1.xml" Id="R34270e5cf81846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f73b008b4d42cc" /><Relationship Type="http://schemas.openxmlformats.org/officeDocument/2006/relationships/notesMaster" Target="/ppt/notesMasters/notesMaster1.xml" Id="R8bd23955ee5f42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عرض يلخص ما أفادت المستخدمة أنها نفذته في Claude، ونتيجة التقييم الذاتي للاختبار الأول.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القيمة المعروضة متوقعة وليست قياسًا لوفورات زمنية أو مالية.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مصدر معلومات المنتج: https://support.claude.com/en/articles/9519177-how-can-i-create-and-manage-projects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مصدر المنتج: https://support.claude.com/en/articles/10185728-understanding-claude-s-personalization-features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حالة الخطوات الأربع مبنية على تأكيد المستخدمة أنها أكملت إعداد المشروع والاختبار.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هذا الاختبار يقيّم استيعاب المصادر والتعرف على عناصر التحليل؛ ولا يثبت وحده جودة الوثيقة الناتجة.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ذكرت المستخدمة نجاح جميع المعايير الخمسة. لا نملك نص استجابة Claude للتحقق المستقل.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تفسير تحليلي مبني على نتائج الاختبار الأول فقط؛ لم تُقدَّم وثيقة BRD للمراجعة.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توصية بناء على مناقشتنا اللاحقة. لم تؤكد المستخدمة تطبيق هذا الملحق بعد.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نهاية العمل الموثق حاليًا عند الاختبار الأول. الاختبار النهائي ومعايير التقييم اقتراحان للمرحلة التالية.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df7be246b84e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ff69c371a747e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4f8787dd0946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054dd8bf0a41e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4e988642064dc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204457bb746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689C7EC-1EAD-412E-B5B5-E154903E58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ED21A6-D349-4188-BE29-A43FE1B8F2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7ED7AB-DC09-4AD6-A96B-4F8930E21F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0A8A6D-9786-4642-8D38-84457EB261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EEC94C7-04AA-4313-85EC-C835D82424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32F970-2FD3-44CD-A367-86FA32FFCA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B36028-B1CE-42BF-9D4D-F149760C1E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DBFFA77-667B-4406-AF67-F31B85E134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5BC5CE-D78B-4E2B-98AF-87F6B2AFD8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BDFD8A-8450-44A4-A291-E42F0A7905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5fdf3c741e455e" /><Relationship Type="http://schemas.openxmlformats.org/officeDocument/2006/relationships/slideLayout" Target="/ppt/slideLayouts/slideLayout1.xml" Id="R53fe051ef86d4e53" /><Relationship Type="http://schemas.openxmlformats.org/officeDocument/2006/relationships/slideLayout" Target="/ppt/slideLayouts/slideLayout2.xml" Id="R09da33cf70e54563" /><Relationship Type="http://schemas.openxmlformats.org/officeDocument/2006/relationships/slideLayout" Target="/ppt/slideLayouts/slideLayout3.xml" Id="Rc301278028a94795" /><Relationship Type="http://schemas.openxmlformats.org/officeDocument/2006/relationships/slideLayout" Target="/ppt/slideLayouts/slideLayout4.xml" Id="R886f673c4cce48af" /><Relationship Type="http://schemas.openxmlformats.org/officeDocument/2006/relationships/slideLayout" Target="/ppt/slideLayouts/slideLayout5.xml" Id="Rdd69e86489614276" /><Relationship Type="http://schemas.openxmlformats.org/officeDocument/2006/relationships/slideLayout" Target="/ppt/slideLayouts/slideLayout6.xml" Id="R4558f208752944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fe051ef86d4e53"/>
    <p:sldLayoutId xmlns:r="http://schemas.openxmlformats.org/officeDocument/2006/relationships" id="2147483650" r:id="R09da33cf70e54563"/>
    <p:sldLayoutId xmlns:r="http://schemas.openxmlformats.org/officeDocument/2006/relationships" id="2147483651" r:id="Rc301278028a94795"/>
    <p:sldLayoutId xmlns:r="http://schemas.openxmlformats.org/officeDocument/2006/relationships" id="2147483652" r:id="R886f673c4cce48af"/>
    <p:sldLayoutId xmlns:r="http://schemas.openxmlformats.org/officeDocument/2006/relationships" id="2147483653" r:id="Rdd69e86489614276"/>
    <p:sldLayoutId xmlns:r="http://schemas.openxmlformats.org/officeDocument/2006/relationships" id="2147483654" r:id="R4558f208752944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471d15421c4326" /><Relationship Type="http://schemas.openxmlformats.org/officeDocument/2006/relationships/notesSlide" Target="/ppt/notesSlides/notesSlide1.xml" Id="R6f67ca84ccec4c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9ba82770934cb9" /><Relationship Type="http://schemas.openxmlformats.org/officeDocument/2006/relationships/notesSlide" Target="/ppt/notesSlides/notesSlide2.xml" Id="R3063c976f5e340a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7b39eee1a4601" /><Relationship Type="http://schemas.openxmlformats.org/officeDocument/2006/relationships/notesSlide" Target="/ppt/notesSlides/notesSlide3.xml" Id="Rac98dc3036ef4c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a6362821247a1" /><Relationship Type="http://schemas.openxmlformats.org/officeDocument/2006/relationships/notesSlide" Target="/ppt/notesSlides/notesSlide4.xml" Id="R9e79bc7731b644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818dae6624155" /><Relationship Type="http://schemas.openxmlformats.org/officeDocument/2006/relationships/notesSlide" Target="/ppt/notesSlides/notesSlide5.xml" Id="R80bc8925cb1a49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c63b2cb1a5a4b8e" /><Relationship Type="http://schemas.openxmlformats.org/officeDocument/2006/relationships/notesSlide" Target="/ppt/notesSlides/notesSlide6.xml" Id="R55fa096ff7814b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1cedfa72d24fd1" /><Relationship Type="http://schemas.openxmlformats.org/officeDocument/2006/relationships/notesSlide" Target="/ppt/notesSlides/notesSlide7.xml" Id="R257885966ad446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008d0c9c0f4dda" /><Relationship Type="http://schemas.openxmlformats.org/officeDocument/2006/relationships/notesSlide" Target="/ppt/notesSlides/notesSlide8.xml" Id="R79ae41f1d0644f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91882e1e8f40b7" /><Relationship Type="http://schemas.openxmlformats.org/officeDocument/2006/relationships/notesSlide" Target="/ppt/notesSlides/notesSlide9.xml" Id="R379dbb7d216c4f7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4e0baf928b41c1" /><Relationship Type="http://schemas.openxmlformats.org/officeDocument/2006/relationships/notesSlide" Target="/ppt/notesSlides/notesSlide10.xml" Id="R314211cbd5a544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B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12746-7B32-4232-8B84-0B804E40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A2C8D-840F-4205-9415-D8E9C1EE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8105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4D8D0"/>
                </a:solidFill>
                <a:latin typeface="DejaVu Sans"/>
                <a:ea typeface="DejaVu Sans"/>
                <a:cs typeface="DejaVu Sans"/>
              </a:rPr>
              <a:t>‏مشروع تطبيقي | أكاديمية سدايا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8764E9-DFF6-4A58-B53D-F89677D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76425"/>
            <a:ext cx="101441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‏تخصيص Claude</a:t>
            </a:r>
          </a:p>
          <a:p xmlns:a="http://schemas.openxmlformats.org/drawingml/2006/main">
            <a:pPr algn="r"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لإعداد وثائق تحليل الأعمال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42B973-1BDE-4580-8B80-D8D6BF7C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1019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C0D7DA"/>
                </a:solidFill>
                <a:latin typeface="DejaVu Sans"/>
                <a:ea typeface="DejaVu Sans"/>
                <a:cs typeface="DejaVu Sans"/>
              </a:rPr>
              <a:t>‏Personalization for Business Requirements Documentation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2149B-C527-40F3-B360-815616A1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38775"/>
            <a:ext cx="403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98EA0-4593-4022-A780-4701EE65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648325"/>
            <a:ext cx="576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‏ملخص التنفيذ ونتائج الاختبار الأول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446344-F055-4988-9811-89C82A79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38850"/>
            <a:ext cx="4191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4BFC4"/>
                </a:solidFill>
                <a:latin typeface="DejaVu Sans"/>
                <a:ea typeface="DejaVu Sans"/>
                <a:cs typeface="DejaVu Sans"/>
              </a:rPr>
              <a:t>‏22 أكتوبر 2026</a:t>
            </a:r>
          </a:p>
        </p:txBody>
      </p:sp>
    </p:spTree>
    <p:extLst>
      <p:ext uri="{BB962C8B-B14F-4D97-AF65-F5344CB8AC3E}">
        <p14:creationId xmlns:p14="http://schemas.microsoft.com/office/powerpoint/2010/main" val="118414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63DF7-2898-4541-BF34-61AA2C8C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F4437-686A-4426-8B92-90BD4AC0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"/>
            <a:ext cx="1003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‏فكرة المشروع والهدف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9A282-C5A7-4A37-8493-4CA40B2A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90625"/>
            <a:ext cx="984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‏استخدام الإعدادات المخصصة لتحويل متطلبات سابقة إلى وثيقة تحليل أعمال منظمة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B682DB-86D5-455B-AD1B-2FCBEDCC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1DA51-117A-4CC2-AFEB-A19231BAA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B1A9BF-553F-4668-82AA-C79C737B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00775"/>
            <a:ext cx="823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‏مشروع تخصيص Claude لإعداد وثائق تحليل الأعمال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A28EE9-B6A5-4BA4-81BF-ED387FBE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209800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‏التحدي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50423-A74A-43A3-AC31-201DA677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28925"/>
            <a:ext cx="43053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‏تتوزع المعلومات بين محاضر اجتماعات،</a:t>
            </a:r>
          </a:p>
          <a:p xmlns:a="http://schemas.openxmlformats.org/drawingml/2006/main">
            <a: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وصف خدمات، ملاحظات، وصلاحيات</a:t>
            </a:r>
          </a:p>
          <a:p xmlns:a="http://schemas.openxmlformats.org/drawingml/2006/main">
            <a:pPr algn="r">
              <a:def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مستخدمين وقوالب سابقة.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A2FE6-5A3D-4946-B746-3CA1BF740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57425"/>
            <a:ext cx="1905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F12C27-2314-4CA9-B55A-61441EF3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09800"/>
            <a:ext cx="3886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‏الهدف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133DB4-FAAC-4B3E-BBE2-1F103A84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828925"/>
            <a:ext cx="432435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‏إنشاء مساعد متخصص يقرأ المدخلات</a:t>
            </a:r>
          </a:p>
          <a:p xmlns:a="http://schemas.openxmlformats.org/drawingml/2006/main">
            <a: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المرجعية ويعد وثيقة BRD متسقة</a:t>
            </a:r>
          </a:p>
          <a:p xmlns:a="http://schemas.openxmlformats.org/drawingml/2006/main">
            <a: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مع القالب والمتطلبات المعتمدة.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7CC2D-9764-459D-B159-581BB18F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149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‏القيمة المتوقعة: توحيد أسلوب التوثيق وتقليل إعادة شرح التعليمات في كل طلب.</a:t>
            </a:r>
          </a:p>
        </p:txBody>
      </p:sp>
    </p:spTree>
    <p:extLst>
      <p:ext uri="{BB962C8B-B14F-4D97-AF65-F5344CB8AC3E}">
        <p14:creationId xmlns:p14="http://schemas.microsoft.com/office/powerpoint/2010/main" val="451056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A27AEC-37CD-4CB6-97B7-0F7B2DC7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9E42B1-1D40-48D3-A1C1-24B50DD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"/>
            <a:ext cx="1003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‏نموذج العمل المصمم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95419D-A3AC-46D3-B864-A159A27D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90625"/>
            <a:ext cx="984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‏من المعرفة السابقة إلى مسودة وثيقة قابلة للمراجعة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E7723-2746-4E8F-92B6-F01854A0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13FEA-1330-4D86-867C-80ABC6F0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FE63B-EEDE-4B4E-A71A-C5408C96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00775"/>
            <a:ext cx="823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‏مشروع تخصيص Claude لإعداد وثائق تحليل الأعمال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D1D3A4-BAE4-4983-8F1F-6C371C819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717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0BDDC1-C8D0-4240-8616-DC827832C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62325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‏المدخلات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28A2A7-D345-42AE-9F5F-B6BF0A3B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‏متطلبات واجتماعات</a:t>
            </a:r>
          </a:p>
          <a:p xmlns:a="http://schemas.openxmlformats.org/drawingml/2006/main">
            <a: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وأدوار وقالب BRD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838D2-F1FC-4C02-86C6-0EB2E5CB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B1C233-EA19-4E2E-AD88-F2DB9AF2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62325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615"/>
          </a:bodyPr>
          <a:lstStyle xmlns:a="http://schemas.openxmlformats.org/drawingml/2006/main">
            <a:def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‏Project Knowledge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E7FD6-EF28-4D4C-961E-899EBF69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00050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‏مرجع مشترك للملفات</a:t>
            </a:r>
          </a:p>
          <a:p xmlns:a="http://schemas.openxmlformats.org/drawingml/2006/main">
            <a: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داخل المشروع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EEB3F5-95E5-450A-ACC9-BA66E40B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DF1971-907E-47AA-A9AA-DD3836AC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62325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‏تعليمات Claude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779201-EA8A-42E3-8EF1-9BFFE2FC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0050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‏قواعد التحليل</a:t>
            </a:r>
          </a:p>
          <a:p xmlns:a="http://schemas.openxmlformats.org/drawingml/2006/main">
            <a: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والتوثيق والتحقق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EB91FD-4E97-4F63-BD11-696B1C1E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571750"/>
            <a:ext cx="1981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33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B59414-8FE3-476B-AE87-4F242D92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362325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‏وثيقة BRD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33A04-58FC-4D2D-B448-7FA80BED4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000500"/>
            <a:ext cx="2171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‏مخرجات منظمة</a:t>
            </a:r>
          </a:p>
          <a:p xmlns:a="http://schemas.openxmlformats.org/drawingml/2006/main">
            <a:pPr algn="ctr">
              <a:def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وفق النموذج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D1AC4E-5238-4067-9B6E-B0BE010E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3BE005-6B00-4E0C-8BBB-114A1CA3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43275"/>
            <a:ext cx="35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rPr>
              <a:t>‏▶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4F221A-FCE5-4BA9-B223-9C53CCB0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24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9486BC-01BA-4B20-B448-070979C5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43275"/>
            <a:ext cx="35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rPr>
              <a:t>‏▶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C2C772-3D97-4D1F-95B7-9A57351C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242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B8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2A89DD-3208-4EE0-8410-96509F01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43275"/>
            <a:ext cx="3524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6B893"/>
                </a:solidFill>
                <a:latin typeface="DejaVu Sans"/>
                <a:ea typeface="DejaVu Sans"/>
                <a:cs typeface="DejaVu Sans"/>
              </a:rPr>
              <a:t>‏▶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E081F-AE96-4C84-8F58-96886FD14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400675"/>
            <a:ext cx="946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‏الملفات المرجعية هي أساس المستند، وتعليمات التخصيص تحدد طريقة معالجتها.</a:t>
            </a:r>
          </a:p>
        </p:txBody>
      </p:sp>
    </p:spTree>
    <p:extLst>
      <p:ext uri="{BB962C8B-B14F-4D97-AF65-F5344CB8AC3E}">
        <p14:creationId xmlns:p14="http://schemas.microsoft.com/office/powerpoint/2010/main" val="9899789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2DF62-3F76-4329-8BA2-B845D0D5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D73B9D-8F86-498D-BB82-6651D178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"/>
            <a:ext cx="1003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‏مستويان من التخصيص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1DF76-D7F2-49C2-9F35-C6894F64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90625"/>
            <a:ext cx="984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‏تعليمات عامة للحساب وتعليمات متخصصة داخل المشروع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608685-2F83-489F-8A53-20452C03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E6DC2-CD73-4C9E-9EB1-8B6338D8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F6562-2E9A-46F1-AA40-4F233887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00775"/>
            <a:ext cx="823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‏مشروع تخصيص Claude لإعداد وثائق تحليل الأعمال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EB292-7EF7-44B7-A7D5-2763944F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481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‏Instructions for Claude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066661-6F89-4DB7-AAF3-53507157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009900"/>
            <a:ext cx="4829175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‏تحدد هوية المستخدمة بصفتها محللة أعمال،</a:t>
            </a:r>
          </a:p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وتفضيلاتها في اللغة والصياغة،</a:t>
            </a:r>
          </a:p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ومبادئ الدقة وعدم إضافة متطلبات.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714AE-82A2-45F2-82B7-60B73C5E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76475"/>
            <a:ext cx="19050" cy="2676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145243-7B81-43FD-9EFA-06107A51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860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‏Project Instructions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A1028-2E0C-420A-94EC-A46B45F7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4667250" cy="1724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‏تحدد سير التحليل: مراجعة المصادر،</a:t>
            </a:r>
          </a:p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استخراج المتطلبات، تطبيق القالب،</a:t>
            </a:r>
          </a:p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ثم التحقق من الاتساق.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D3F62-1C1D-4F37-BF05-C37D4C3C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1000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‏النتيجة: سياق مهني ثابت مع قواعد عمل مخصصة لكل مشروع.</a:t>
            </a:r>
          </a:p>
        </p:txBody>
      </p:sp>
    </p:spTree>
    <p:extLst>
      <p:ext uri="{BB962C8B-B14F-4D97-AF65-F5344CB8AC3E}">
        <p14:creationId xmlns:p14="http://schemas.microsoft.com/office/powerpoint/2010/main" val="14621526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DC63F-262A-46C2-8344-91A70B76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495C9-FB1F-441F-95D6-A7E05B69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"/>
            <a:ext cx="1003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‏خطوات التنفيذ المنجزة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8DD64-E830-494E-AADB-5C900E37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90625"/>
            <a:ext cx="984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‏وفق ما أكدته المستخدمة في المحادثة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8AFBC-D507-4C10-899C-5A132BEE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9641D-913F-44C2-9B66-AAAF7C9A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FA2926-1F24-4036-8B0B-C4BF467B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00775"/>
            <a:ext cx="823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‏مشروع تخصيص Claude لإعداد وثائق تحليل الأعمال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23EFF-08C6-46AB-94CD-BA3EBC7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145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0698FC-6DCE-44C9-AE9F-F499D1AE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145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‏إعداد التعليمات العامة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A99E41-EE28-43F9-8557-A308FDC22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5146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‏تحديد تخصص تحليل الأعمال وأسلوب الاستجابة المطلوب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6A0458-8D33-4D36-8B64-50FCC9D1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003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58B0D-E16B-4CFF-BA02-A59B6F51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3E242A-F43B-4334-A994-627E4A83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432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‏إنشاء مشروع Claude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0E53FF-FC62-4D1F-AE03-5F4C4DAD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433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‏Business Analysis Documentation Assistant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4FF46-38E5-414C-B4A4-F6E3CE7D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290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5AA2E4-09CB-4B40-AEFD-4D9203D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0F6CC1-F2FD-446A-91F1-79E68C63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719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‏إضافة المعرفة والتعليمات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E29053-2DD3-43B5-817F-2715AEAF0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5720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‏ربط الملفات والقالب وإضافة قواعد إعداد الوثيقة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53F016-B890-4092-905C-4764FA0C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577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5E28E-C88B-4CB6-B936-05BF35A3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00650"/>
            <a:ext cx="876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285DDC-7D95-4434-BA11-8D305436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‏تنفيذ اختبار الاستيعاب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F1D863-96A9-4DE8-BB56-8E1A0183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0070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‏اختبار التعرف على المصادر واستخراج المعلومات والتعارضات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997ED0-2126-4DA1-A0D3-D5EE6D61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6086475"/>
            <a:ext cx="914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556484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A1E02-A13D-433D-96DE-62E520CF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4AC360-62B3-4D5C-9637-A5906CF6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"/>
            <a:ext cx="1003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‏تصميم الاختبار الأول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E4AB9-2238-445F-9CEE-0ED88CCC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90625"/>
            <a:ext cx="984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‏اختبار تشخيصي قبل إنشاء وثيقة BRD النهائية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FA86F-B9C9-4BB3-B64D-073684C8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14DA31-4A89-4791-A0CE-6476622B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144670-A4BB-4681-BCC3-38E1A97B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00775"/>
            <a:ext cx="823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‏مشروع تخصيص Claude لإعداد وثائق تحليل الأعمال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8753E-5B0D-4E25-A143-557E216D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050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D7D5D8-541D-40F8-A9E6-1B381632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0502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‏التعرف على الملفات والمعلومات السابقة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B28CF-3AB8-49F1-B099-03BCF176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7241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726685-3779-4C56-AD13-D0AF5211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3845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E9160B-C5E5-467A-890A-1745780C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3845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‏استخراج المتطلبات بدقة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CD8E6-3CD2-45AC-A8BA-81DD27C1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5757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59339D-6059-40B5-86DE-1E01E11A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7187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C55F4C-4D3C-4C52-AC05-5AB17A2B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7187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‏تحديد المستخدمين والصلاحيات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23DA2-2528-4C39-B8A2-2F6BCC44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88CBC-0BA7-4A06-9D11-A8223A17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0BC21D-ADF6-4E41-81E6-E57BFCBB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‏اكتشاف التعارضات والنواقص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83DBFD-234F-48D9-8882-F3A733B5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24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6749FC-6D2E-4BD2-8984-DD967FBC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38725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A868AC-1DD2-4919-B258-5B6FBA964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38725"/>
            <a:ext cx="876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‏التعرف على قالب وثيقة التحليل</a:t>
            </a:r>
          </a:p>
        </p:txBody>
      </p:sp>
    </p:spTree>
    <p:extLst>
      <p:ext uri="{BB962C8B-B14F-4D97-AF65-F5344CB8AC3E}">
        <p14:creationId xmlns:p14="http://schemas.microsoft.com/office/powerpoint/2010/main" val="42968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2328B-6387-4748-89BD-169D1D1F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FD3D4-9EA8-4A1F-BC45-8EDD3C23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"/>
            <a:ext cx="1003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‏نتيجة الاختبار الأول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D5DEC-11CB-4C35-BBDC-ED1B2C7E3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90625"/>
            <a:ext cx="984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‏تقييم المستخدم للمعايير الخمسة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1EDC5-7157-4779-A0DA-0A418E32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37379-E3B7-4703-9C3D-AEB068536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2A2672-825C-4BF2-85B5-7C683E02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00775"/>
            <a:ext cx="823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‏مشروع تخصيص Claude لإعداد وثائق تحليل الأعمال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534D30-7ABD-4A16-8B6F-30DC9434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431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78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‏100%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48483-753F-4937-9659-0C24F76C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143375"/>
            <a:ext cx="48291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‏5 من 5 معايير ناجحة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05B7E-E5D6-42F6-A3F0-53F29544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86000"/>
            <a:ext cx="190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AB6726-D6BD-444C-96A1-66847FC6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266950"/>
            <a:ext cx="457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rPr>
              <a:t>‏✓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132C38-D3F0-4079-81A1-69C93165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3905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‏التعرف على الملفات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86581E-CF1D-4815-BCC4-937CFB21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2886075"/>
            <a:ext cx="457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rPr>
              <a:t>‏✓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8005E-6452-4E22-BF3C-7B603AA34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86075"/>
            <a:ext cx="3905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‏استخراج المتطلبات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463AF7-476C-425B-80BD-FE204A4F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3505200"/>
            <a:ext cx="457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rPr>
              <a:t>‏✓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C3660D-D9CB-4A2E-9997-D6429647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505200"/>
            <a:ext cx="3905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‏المستخدمون والصلاحيات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FC590-A085-40F0-A860-1819C015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124325"/>
            <a:ext cx="457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rPr>
              <a:t>‏✓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A81F43-ED78-48A0-9B3A-A1C49B10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24325"/>
            <a:ext cx="3905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‏التعارضات والنواقص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0DF8C8-DB1D-4BEC-93F2-AC37484E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4743450"/>
            <a:ext cx="457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6B893"/>
                </a:solidFill>
                <a:latin typeface="DejaVu Sans"/>
                <a:ea typeface="DejaVu Sans"/>
                <a:cs typeface="DejaVu Sans"/>
              </a:rPr>
              <a:t>‏✓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A2AF7-21C5-4E3D-A671-0A9AD0E8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43450"/>
            <a:ext cx="3905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‏قالب التحليل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56E949-38AB-4CCE-A3D0-5EAA1D14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10225"/>
            <a:ext cx="9334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‏النتيجة مستمدة من التقييم الذاتي، ولم تُراجع استجابة Claude الأصلية بصورة مستقلة.</a:t>
            </a:r>
          </a:p>
        </p:txBody>
      </p:sp>
    </p:spTree>
    <p:extLst>
      <p:ext uri="{BB962C8B-B14F-4D97-AF65-F5344CB8AC3E}">
        <p14:creationId xmlns:p14="http://schemas.microsoft.com/office/powerpoint/2010/main" val="121369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0395CE-BFC6-486F-935C-36C28AC0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92D86-597D-47A5-9E69-32441F79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"/>
            <a:ext cx="1003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‏دلالة النتائج وحدودها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91AE7-9B11-48D6-B62D-023BE967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90625"/>
            <a:ext cx="984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‏النجاح في استيعاب المعلومات لا يكفي للحكم على جودة المستند النهائي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824F2-02CE-422D-AED3-68C69196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72612-8359-4E16-AEB7-CEB3B4930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659E5-D912-4809-B719-CF864966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00775"/>
            <a:ext cx="823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‏مشروع تخصيص Claude لإعداد وثائق تحليل الأعمال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F26DCF-69A0-4997-ADA3-766C7C09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57425"/>
            <a:ext cx="45434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6B893"/>
                </a:solidFill>
                <a:latin typeface="DejaVu Sans"/>
                <a:ea typeface="DejaVu Sans"/>
                <a:cs typeface="DejaVu Sans"/>
              </a:rPr>
              <a:t>‏ما تحقق في الاختبار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222BA-08F8-4F62-AF66-FCF34607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933700"/>
            <a:ext cx="474345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‏تحديد المصادر المتاحة</a:t>
            </a:r>
          </a:p>
          <a:p xmlns:a="http://schemas.openxmlformats.org/drawingml/2006/main">
            <a: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استخراج المتطلبات والأدوار</a:t>
            </a:r>
          </a:p>
          <a:p xmlns:a="http://schemas.openxmlformats.org/drawingml/2006/main">
            <a: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التعرف على النواقص والقالب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80F15C-5AC0-4246-A9BB-C55F8AE4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95525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4F000A-D291-4571-B13C-17443A24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25742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‏ما يزال يحتاج إلى تحقق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BEC208-FA57-48C8-8B57-268420C4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933700"/>
            <a:ext cx="4762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‏إنشاء BRD فعلي</a:t>
            </a:r>
          </a:p>
          <a:p xmlns:a="http://schemas.openxmlformats.org/drawingml/2006/main">
            <a: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اختبار الاتساق وقابلية القبول</a:t>
            </a:r>
          </a:p>
          <a:p xmlns:a="http://schemas.openxmlformats.org/drawingml/2006/main">
            <a:pPr algn="r">
              <a:def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مقارنة الوثيقة بالمصادر الأصلية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B5D21-3B02-4F55-AF69-AB71AA55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3911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‏المرحلة التالية هي اختبار جودة المخرجات، وليس إعادة اختبار الوصول إلى الملفات.</a:t>
            </a:r>
          </a:p>
        </p:txBody>
      </p:sp>
    </p:spTree>
    <p:extLst>
      <p:ext uri="{BB962C8B-B14F-4D97-AF65-F5344CB8AC3E}">
        <p14:creationId xmlns:p14="http://schemas.microsoft.com/office/powerpoint/2010/main" val="1386619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A7D64-2170-4CA7-909F-0F194D3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0F4F68-1B76-43F6-A7E2-D81BD945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"/>
            <a:ext cx="1003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‏التحسين المقترح للتخصيص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0CCA3-D868-437D-AFB5-85F40D18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90625"/>
            <a:ext cx="984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‏إضافة فحص الجودة وتتبع المتطلبات إلى المصادر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3E949-541A-4973-9AEF-13C41AA1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779A2-A4BC-4CB8-BC0D-39506720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ED9C8-FBDC-43F3-A686-ED1C8CD4D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00775"/>
            <a:ext cx="823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‏مشروع تخصيص Claude لإعداد وثائق تحليل الأعمال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2B9589-4990-4FD2-8634-0B628A44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81225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867A5-BA8B-402E-BEA0-B5987B2C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2124075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‏تتبع المتطلبات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6C4AD-42F5-4A2A-B375-D991D840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124075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‏ربط كل متطلب بمصدره ومراجعته عند التعديل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60042-7EC2-422A-93E9-2B6B7616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84797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667E5-52D9-4FFE-BD25-F0F7CCC8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BEF00-EAA5-425E-B7DF-F65D0C47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00990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‏قابلية الاختبار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28DEB-C3CE-405E-920F-895CB647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00990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‏صياغة معايير قبول واضحة ومحددة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FAAA7-1EFA-4CB7-9BC0-622C5D50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33800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8344F-2242-4504-98A9-0C39E8C8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52875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B44AAB-EA1F-4742-9D98-27C92773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895725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‏اتساق الوثيقة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28403D-9E83-4869-9A0B-991B7CEE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895725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‏التحقق من توافق الصلاحيات والقواعد والمعايير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CDD6B3-97C5-44A2-BCD9-E1A80605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19625"/>
            <a:ext cx="9382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D88551-B5D5-4C98-94E0-CE6250E2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800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DAAA9-B4C4-455E-841D-D3489F9B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4781550"/>
            <a:ext cx="3524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‏النقاط غير المحسومة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3AA76-B32D-415A-9935-AF5CA7EC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81550"/>
            <a:ext cx="571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‏فصل المعلومات الناقصة عن المتطلبات المعتمدة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7DF63-D2B6-4242-AC32-AAEDCEC6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53125"/>
            <a:ext cx="9715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‏الحالة: تحسين موصى به. لم نتأكد بعد من إضافته أو اختباره داخل Claude.</a:t>
            </a:r>
          </a:p>
        </p:txBody>
      </p:sp>
    </p:spTree>
    <p:extLst>
      <p:ext uri="{BB962C8B-B14F-4D97-AF65-F5344CB8AC3E}">
        <p14:creationId xmlns:p14="http://schemas.microsoft.com/office/powerpoint/2010/main" val="1723172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316921-B6F8-482E-B000-BCDAB3CF6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FC17FE-3142-4D97-A0A8-6A24EFAC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"/>
            <a:ext cx="10039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3075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‏الاختبار النهائي المقترح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A122C-B864-4F57-B2A7-B769FB449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90625"/>
            <a:ext cx="9848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‏إنشاء BRD من خدمة حقيقية، ثم تقييم الوثيقة بالأدلة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12370A-DAF5-4791-BB59-B1892317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1038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3496A-CF21-4EE2-9855-DE07ECC4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62675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4A24A-5B1D-4036-AD6F-EDE0039A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200775"/>
            <a:ext cx="8239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‏مشروع تخصيص Claude لإعداد وثائق تحليل الأعمال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672E8-D90F-4477-96D6-04548A23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90750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‏خطوات التحقق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9DE94-D187-4D11-9AFB-F9828EFF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752725"/>
            <a:ext cx="5248275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‏01  اختيار خدمة ذات ملفات مرجعية</a:t>
            </a:r>
          </a:p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02  إنشاء وثيقة BRD داخل المشروع</a:t>
            </a:r>
          </a:p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03  مقارنة الوثيقة بالمصادر والقالب</a:t>
            </a:r>
          </a:p>
          <a:p xmlns:a="http://schemas.openxmlformats.org/drawingml/2006/main">
            <a:pPr algn="r">
              <a:def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04  توثيق الأخطاء والنتيجة النهائية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F8A79-668A-424D-AC3C-52805FBA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171700"/>
            <a:ext cx="1905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012FB-523E-4E7B-A943-0E661F5B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190750"/>
            <a:ext cx="4238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82B39"/>
                </a:solidFill>
                <a:latin typeface="DejaVu Sans"/>
                <a:ea typeface="DejaVu Sans"/>
                <a:cs typeface="DejaVu Sans"/>
              </a:rPr>
              <a:t>‏معايير التقييم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99EEF8-8429-4450-B6AE-C6C65580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43200"/>
            <a:ext cx="4429125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defPPr>
            <a:lvl1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1pPr>
            <a:lvl2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2pPr>
            <a:lvl3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3pPr>
            <a:lvl4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4pPr>
            <a:lvl5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5pPr>
            <a:lvl6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6pPr>
            <a:lvl7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7pPr>
            <a:lvl8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8pPr>
            <a:lvl9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‏اكتمال ودقة المتطلبات        40</a:t>
            </a:r>
          </a:p>
          <a:p xmlns:a="http://schemas.openxmlformats.org/drawingml/2006/main">
            <a: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القواعد والصلاحيات              20</a:t>
            </a:r>
          </a:p>
          <a:p xmlns:a="http://schemas.openxmlformats.org/drawingml/2006/main">
            <a: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معايير القبول                      15</a:t>
            </a:r>
          </a:p>
          <a:p xmlns:a="http://schemas.openxmlformats.org/drawingml/2006/main">
            <a: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الالتزام بالقالب                   15</a:t>
            </a:r>
          </a:p>
          <a:p xmlns:a="http://schemas.openxmlformats.org/drawingml/2006/main">
            <a:pPr algn="r">
              <a:def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9343E"/>
                </a:solidFill>
                <a:latin typeface="DejaVu Sans"/>
                <a:ea typeface="DejaVu Sans"/>
                <a:cs typeface="DejaVu Sans"/>
              </a:rPr>
              <a:t>تتبع المصادر                      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6F5571-BCEB-456D-BA4B-75389E54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4076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007580"/>
                </a:solidFill>
                <a:latin typeface="DejaVu Sans"/>
                <a:ea typeface="DejaVu Sans"/>
                <a:cs typeface="DejaVu Sans"/>
              </a:rPr>
              <a:t>‏المجموع: 100 نقطة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49CE68-9380-45E3-AF25-8052C001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1980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defPPr>
            <a:lvl1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1pPr>
            <a:lvl2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2pPr>
            <a:lvl3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3pPr>
            <a:lvl4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4pPr>
            <a:lvl5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5pPr>
            <a:lvl6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6pPr>
            <a:lvl7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7pPr>
            <a:lvl8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8pPr>
            <a:lvl9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D7179"/>
                </a:solidFill>
                <a:latin typeface="DejaVu Sans"/>
                <a:ea typeface="DejaVu Sans"/>
                <a:cs typeface="DejaVu Sans"/>
              </a:rPr>
              <a:t>‏التقييم المقترح خاص بهذا المشروع، وليس معيارًا رسميًا مثبتًا من أكاديمية سدايا.</a:t>
            </a:r>
          </a:p>
        </p:txBody>
      </p:sp>
    </p:spTree>
    <p:extLst>
      <p:ext uri="{BB962C8B-B14F-4D97-AF65-F5344CB8AC3E}">
        <p14:creationId xmlns:p14="http://schemas.microsoft.com/office/powerpoint/2010/main" val="132178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2026-10-22T09:16:08.0420000Z</dcterms:created>
  <dcterms:modified xsi:type="dcterms:W3CDTF">2026-10-22T09:16:08.0430000Z</dcterms:modified>
</coreProperties>
</file>